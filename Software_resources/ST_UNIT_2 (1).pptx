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82" y="1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E8D18-0C35-4507-A59B-F1E755184D0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B44DD-DBAB-488A-B97C-B6F767644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068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community/controls/Blocking_Brute_Force_Attacks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cases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detailed, step‑by‑step instructions used in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testing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verify whether a particular feature or function of an application works as expected.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simple words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test case tells the tester: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to test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to test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result to expect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actual result matches the expected result, the test case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otherwise, it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N" dirty="0"/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 of test cases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 the software meets requirements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 defects or bugs early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 software quality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 clear documentation for testing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B44DD-DBAB-488A-B97C-B6F76764451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649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Black‑Box Testing is Applied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tester: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how the age validation code is written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checks whether correct output is shown for given inputs</a:t>
            </a:r>
          </a:p>
          <a:p>
            <a:endParaRPr lang="en-IN" dirty="0"/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Advantages of Black‑Box Testing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programming knowledge required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 to understand and execute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Focuses on user requirements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Helps find missing functionality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B44DD-DBAB-488A-B97C-B6F76764451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003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Table Testing? 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Table Testing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black‑box test design technique used to test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combinations of inputs (conditions)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their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corresponding outputs (actions)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Conditions / Test CasesTC1TC2TC3TC4Image format 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JPEGTTFFImage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size &lt; 1 MBT</a:t>
            </a:r>
          </a:p>
          <a:p>
            <a:endParaRPr lang="en-IN" dirty="0"/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to Use Decision Table Testing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conditions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affect the output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rules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validations, and complex logic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all combinations must be tested clearly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B44DD-DBAB-488A-B97C-B6F76764451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867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State Transition Testing?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Transition Testing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black‑box testing technique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used to verify how a system behaves when it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 from one state to another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based on different inputs or events.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condition or situation in which the system exists at a specific time.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change from one state to another caused by an input or event.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This technique is mainly used when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 depends on the current state and the input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B44DD-DBAB-488A-B97C-B6F76764451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498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brute</a:t>
            </a:r>
            <a:r>
              <a:rPr lang="en-IN" sz="1200" spc="-10" dirty="0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 </a:t>
            </a:r>
            <a:r>
              <a:rPr lang="en-IN"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force</a:t>
            </a:r>
            <a:r>
              <a:rPr lang="en-IN" sz="12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lang="en-IN"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attack</a:t>
            </a:r>
            <a:r>
              <a:rPr lang="en-IN" sz="1200" spc="-1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.</a:t>
            </a:r>
            <a:r>
              <a:rPr lang="en-IN" sz="1200" spc="-10" dirty="0">
                <a:solidFill>
                  <a:srgbClr val="232323"/>
                </a:solidFill>
                <a:latin typeface="Calibri"/>
                <a:cs typeface="Calibri"/>
              </a:rPr>
              <a:t>-cybersecurity hacking method that uses trial and error to crack </a:t>
            </a:r>
            <a:r>
              <a:rPr lang="en-IN" sz="1200" spc="-10" dirty="0" err="1">
                <a:solidFill>
                  <a:srgbClr val="232323"/>
                </a:solidFill>
                <a:latin typeface="Calibri"/>
                <a:cs typeface="Calibri"/>
              </a:rPr>
              <a:t>passwords,login</a:t>
            </a:r>
            <a:r>
              <a:rPr lang="en-IN" sz="1200" spc="-10" dirty="0">
                <a:solidFill>
                  <a:srgbClr val="232323"/>
                </a:solidFill>
                <a:latin typeface="Calibri"/>
                <a:cs typeface="Calibri"/>
              </a:rPr>
              <a:t> credentials..</a:t>
            </a:r>
          </a:p>
          <a:p>
            <a:endParaRPr lang="en-IN" sz="1200" spc="-10" dirty="0">
              <a:solidFill>
                <a:srgbClr val="232323"/>
              </a:solidFill>
              <a:latin typeface="Calibri"/>
              <a:cs typeface="Calibri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States in This System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1st Attempt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2nd Attempt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3rd Attempt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Granted (Unlocked)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Cooling Period (Locked)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B44DD-DBAB-488A-B97C-B6F76764451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20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 – Meaning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describes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a user interacts with a 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achieve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 goal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explains: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user is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user wants to do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system responds step by step</a:t>
            </a:r>
          </a:p>
          <a:p>
            <a:endParaRPr lang="en-IN" dirty="0"/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Withdraw Cash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inserts ATM card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enters PIN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selects withdrawal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enters amount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dispenses cash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B44DD-DBAB-488A-B97C-B6F76764451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050" y="456387"/>
            <a:ext cx="5300980" cy="4564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050" y="1458539"/>
            <a:ext cx="4952365" cy="4422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community/controls/Blocking_Brute_Force_Attack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software-testing.html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javatpoint.com/test-case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javatpoint.com/test-case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javatpoint.com/software-testing-tutorial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UNIT-</a:t>
            </a:r>
            <a:r>
              <a:rPr dirty="0"/>
              <a:t>2</a:t>
            </a:r>
            <a:r>
              <a:rPr spc="-15" dirty="0"/>
              <a:t> </a:t>
            </a:r>
            <a:r>
              <a:rPr spc="-45" dirty="0"/>
              <a:t>Test</a:t>
            </a:r>
            <a:r>
              <a:rPr spc="-50" dirty="0"/>
              <a:t> </a:t>
            </a:r>
            <a:r>
              <a:rPr dirty="0"/>
              <a:t>Case</a:t>
            </a:r>
            <a:r>
              <a:rPr spc="-40" dirty="0"/>
              <a:t> </a:t>
            </a:r>
            <a:r>
              <a:rPr dirty="0"/>
              <a:t>Design</a:t>
            </a:r>
            <a:r>
              <a:rPr spc="-4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/>
              <a:t>Introduction</a:t>
            </a:r>
            <a:r>
              <a:rPr spc="-70" dirty="0"/>
              <a:t> </a:t>
            </a:r>
            <a:r>
              <a:rPr spc="-50" dirty="0"/>
              <a:t>:</a:t>
            </a:r>
          </a:p>
          <a:p>
            <a:pPr marL="697865" indent="-228600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spc="-20" dirty="0">
                <a:latin typeface="Times New Roman"/>
                <a:cs typeface="Times New Roman"/>
              </a:rPr>
              <a:t>Test</a:t>
            </a:r>
            <a:r>
              <a:rPr sz="1400" b="0" spc="-50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Case,</a:t>
            </a:r>
            <a:endParaRPr sz="1400">
              <a:latin typeface="Times New Roman"/>
              <a:cs typeface="Times New Roman"/>
            </a:endParaRPr>
          </a:p>
          <a:p>
            <a:pPr marL="741045" indent="-27178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741045" algn="l"/>
              </a:tabLst>
            </a:pPr>
            <a:r>
              <a:rPr sz="1400" b="0" spc="-10" dirty="0">
                <a:latin typeface="Times New Roman"/>
                <a:cs typeface="Times New Roman"/>
              </a:rPr>
              <a:t>Types</a:t>
            </a:r>
            <a:r>
              <a:rPr sz="1400" b="0" spc="-3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of</a:t>
            </a:r>
            <a:r>
              <a:rPr sz="1400" b="0" spc="-80" dirty="0">
                <a:latin typeface="Times New Roman"/>
                <a:cs typeface="Times New Roman"/>
              </a:rPr>
              <a:t> </a:t>
            </a:r>
            <a:r>
              <a:rPr sz="1400" b="0" spc="-20" dirty="0">
                <a:latin typeface="Times New Roman"/>
                <a:cs typeface="Times New Roman"/>
              </a:rPr>
              <a:t>Test</a:t>
            </a:r>
            <a:r>
              <a:rPr sz="1400" b="0" spc="-55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Cases,</a:t>
            </a:r>
            <a:endParaRPr sz="14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spc="-20" dirty="0">
                <a:latin typeface="Times New Roman"/>
                <a:cs typeface="Times New Roman"/>
              </a:rPr>
              <a:t>Test</a:t>
            </a:r>
            <a:r>
              <a:rPr sz="1400" b="0" spc="-3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Case</a:t>
            </a:r>
            <a:r>
              <a:rPr sz="1400" b="0" spc="-45" dirty="0">
                <a:latin typeface="Times New Roman"/>
                <a:cs typeface="Times New Roman"/>
              </a:rPr>
              <a:t> </a:t>
            </a:r>
            <a:r>
              <a:rPr sz="1400" b="0" spc="-20" dirty="0">
                <a:latin typeface="Times New Roman"/>
                <a:cs typeface="Times New Roman"/>
              </a:rPr>
              <a:t>Template</a:t>
            </a:r>
            <a:r>
              <a:rPr sz="1400" b="0" spc="3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How</a:t>
            </a:r>
            <a:r>
              <a:rPr sz="1400" b="0" spc="1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to</a:t>
            </a:r>
            <a:r>
              <a:rPr sz="1400" b="0" spc="-5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write</a:t>
            </a:r>
            <a:r>
              <a:rPr sz="1400" b="0" spc="1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a</a:t>
            </a:r>
            <a:r>
              <a:rPr sz="1400" b="0" spc="-4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test</a:t>
            </a:r>
            <a:r>
              <a:rPr sz="1400" b="0" spc="-3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case</a:t>
            </a:r>
            <a:r>
              <a:rPr sz="1400" b="0" spc="-3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with</a:t>
            </a:r>
            <a:r>
              <a:rPr sz="1400" b="0" spc="-15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examples,</a:t>
            </a:r>
            <a:endParaRPr sz="14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dirty="0">
                <a:latin typeface="Times New Roman"/>
                <a:cs typeface="Times New Roman"/>
              </a:rPr>
              <a:t>Preparing</a:t>
            </a:r>
            <a:r>
              <a:rPr sz="1400" b="0" spc="-4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Review</a:t>
            </a:r>
            <a:r>
              <a:rPr sz="1400" b="0" spc="-65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Report.</a:t>
            </a:r>
            <a:endParaRPr sz="14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spc="-10" dirty="0">
                <a:latin typeface="Times New Roman"/>
                <a:cs typeface="Times New Roman"/>
              </a:rPr>
              <a:t>Writing</a:t>
            </a:r>
            <a:r>
              <a:rPr sz="1400" b="0" spc="-40" dirty="0">
                <a:latin typeface="Times New Roman"/>
                <a:cs typeface="Times New Roman"/>
              </a:rPr>
              <a:t> </a:t>
            </a:r>
            <a:r>
              <a:rPr sz="1400" b="0" spc="-20" dirty="0">
                <a:latin typeface="Times New Roman"/>
                <a:cs typeface="Times New Roman"/>
              </a:rPr>
              <a:t>Test</a:t>
            </a:r>
            <a:r>
              <a:rPr sz="1400" b="0" spc="-65" dirty="0">
                <a:latin typeface="Times New Roman"/>
                <a:cs typeface="Times New Roman"/>
              </a:rPr>
              <a:t> </a:t>
            </a:r>
            <a:r>
              <a:rPr sz="1400" b="0" spc="-20" dirty="0">
                <a:latin typeface="Times New Roman"/>
                <a:cs typeface="Times New Roman"/>
              </a:rPr>
              <a:t>Plan,</a:t>
            </a:r>
            <a:endParaRPr sz="14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dirty="0">
                <a:latin typeface="Times New Roman"/>
                <a:cs typeface="Times New Roman"/>
              </a:rPr>
              <a:t>Preparing</a:t>
            </a:r>
            <a:r>
              <a:rPr sz="1400" b="0" spc="-65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Traceability</a:t>
            </a:r>
            <a:r>
              <a:rPr sz="1400" b="0" spc="-45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Matrix</a:t>
            </a:r>
            <a:endParaRPr sz="14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spc="-10" dirty="0">
                <a:latin typeface="Times New Roman"/>
                <a:cs typeface="Times New Roman"/>
              </a:rPr>
              <a:t>Writing</a:t>
            </a:r>
            <a:r>
              <a:rPr sz="1400" b="0" spc="-35" dirty="0">
                <a:latin typeface="Times New Roman"/>
                <a:cs typeface="Times New Roman"/>
              </a:rPr>
              <a:t> </a:t>
            </a:r>
            <a:r>
              <a:rPr sz="1400" b="0" spc="-20" dirty="0">
                <a:latin typeface="Times New Roman"/>
                <a:cs typeface="Times New Roman"/>
              </a:rPr>
              <a:t>Test</a:t>
            </a:r>
            <a:r>
              <a:rPr sz="1400" b="0" spc="-6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Execution</a:t>
            </a:r>
            <a:r>
              <a:rPr sz="1400" b="0" spc="1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Report</a:t>
            </a:r>
            <a:r>
              <a:rPr sz="1400" b="0" spc="-7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and</a:t>
            </a:r>
            <a:r>
              <a:rPr sz="1400" b="0" spc="-45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Summary</a:t>
            </a:r>
            <a:r>
              <a:rPr sz="1400" b="0" spc="10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Report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Software</a:t>
            </a:r>
            <a:r>
              <a:rPr spc="-90" dirty="0"/>
              <a:t> </a:t>
            </a:r>
            <a:r>
              <a:rPr spc="-40" dirty="0"/>
              <a:t>Test</a:t>
            </a:r>
            <a:r>
              <a:rPr spc="-45" dirty="0"/>
              <a:t> </a:t>
            </a:r>
            <a:r>
              <a:rPr dirty="0"/>
              <a:t>Life</a:t>
            </a:r>
            <a:r>
              <a:rPr spc="-45" dirty="0"/>
              <a:t> </a:t>
            </a:r>
            <a:r>
              <a:rPr spc="-10" dirty="0"/>
              <a:t>cycle:</a:t>
            </a:r>
          </a:p>
          <a:p>
            <a:pPr marL="697865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dirty="0">
                <a:latin typeface="Times New Roman"/>
                <a:cs typeface="Times New Roman"/>
              </a:rPr>
              <a:t>Concept</a:t>
            </a:r>
            <a:r>
              <a:rPr sz="1400" b="0" spc="-4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of</a:t>
            </a:r>
            <a:r>
              <a:rPr sz="1400" b="0" spc="-6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Software</a:t>
            </a:r>
            <a:r>
              <a:rPr sz="1400" b="0" spc="-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test</a:t>
            </a:r>
            <a:r>
              <a:rPr sz="1400" b="0" spc="-5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life</a:t>
            </a:r>
            <a:r>
              <a:rPr sz="1400" b="0" spc="15" dirty="0">
                <a:latin typeface="Times New Roman"/>
                <a:cs typeface="Times New Roman"/>
              </a:rPr>
              <a:t> </a:t>
            </a:r>
            <a:r>
              <a:rPr sz="1400" b="0" spc="-20" dirty="0">
                <a:latin typeface="Times New Roman"/>
                <a:cs typeface="Times New Roman"/>
              </a:rPr>
              <a:t>cycle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Software</a:t>
            </a:r>
            <a:r>
              <a:rPr spc="-60" dirty="0"/>
              <a:t> </a:t>
            </a:r>
            <a:r>
              <a:rPr dirty="0"/>
              <a:t>Bugs</a:t>
            </a:r>
            <a:r>
              <a:rPr spc="-50" dirty="0"/>
              <a:t> :</a:t>
            </a:r>
          </a:p>
          <a:p>
            <a:pPr marL="697865" indent="-228600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spc="-10" dirty="0">
                <a:latin typeface="Times New Roman"/>
                <a:cs typeface="Times New Roman"/>
              </a:rPr>
              <a:t>Types</a:t>
            </a:r>
            <a:r>
              <a:rPr sz="1400" b="0" spc="-3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of</a:t>
            </a:r>
            <a:r>
              <a:rPr sz="1400" b="0" spc="-60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Bugs,</a:t>
            </a:r>
            <a:endParaRPr sz="14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dirty="0">
                <a:latin typeface="Times New Roman"/>
                <a:cs typeface="Times New Roman"/>
              </a:rPr>
              <a:t>Identifying</a:t>
            </a:r>
            <a:r>
              <a:rPr sz="1400" b="0" spc="-2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the</a:t>
            </a:r>
            <a:r>
              <a:rPr sz="1400" b="0" spc="-60" dirty="0">
                <a:latin typeface="Times New Roman"/>
                <a:cs typeface="Times New Roman"/>
              </a:rPr>
              <a:t> </a:t>
            </a:r>
            <a:r>
              <a:rPr sz="1400" b="0" spc="-20" dirty="0">
                <a:latin typeface="Times New Roman"/>
                <a:cs typeface="Times New Roman"/>
              </a:rPr>
              <a:t>Bugs,</a:t>
            </a:r>
            <a:endParaRPr sz="14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b="0" dirty="0">
                <a:latin typeface="Times New Roman"/>
                <a:cs typeface="Times New Roman"/>
              </a:rPr>
              <a:t>Reporting</a:t>
            </a:r>
            <a:r>
              <a:rPr sz="1400" b="0" spc="-2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the</a:t>
            </a:r>
            <a:r>
              <a:rPr sz="1400" b="0" spc="-50" dirty="0">
                <a:latin typeface="Times New Roman"/>
                <a:cs typeface="Times New Roman"/>
              </a:rPr>
              <a:t> </a:t>
            </a:r>
            <a:r>
              <a:rPr sz="1400" b="0" spc="-20" dirty="0">
                <a:latin typeface="Times New Roman"/>
                <a:cs typeface="Times New Roman"/>
              </a:rPr>
              <a:t>Bugs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825754"/>
            <a:ext cx="5024120" cy="59329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Calibri"/>
                <a:cs typeface="Calibri"/>
              </a:rPr>
              <a:t>Basics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-30" dirty="0">
                <a:latin typeface="Calibri"/>
                <a:cs typeface="Calibri"/>
              </a:rPr>
              <a:t> Test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Case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Design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Techniques: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1600" dirty="0">
              <a:latin typeface="Calibri"/>
              <a:cs typeface="Calibri"/>
            </a:endParaRPr>
          </a:p>
          <a:p>
            <a:pPr marL="239395" marR="6985" indent="-227329" algn="just">
              <a:lnSpc>
                <a:spcPct val="1501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spc="-25" dirty="0">
                <a:solidFill>
                  <a:srgbClr val="1C1C1C"/>
                </a:solidFill>
                <a:latin typeface="Calibri"/>
                <a:cs typeface="Calibri"/>
              </a:rPr>
              <a:t>Test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cases</a:t>
            </a:r>
            <a:r>
              <a:rPr sz="1400" spc="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are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essential</a:t>
            </a:r>
            <a:r>
              <a:rPr sz="1400" spc="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1400" spc="-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ensure</a:t>
            </a:r>
            <a:r>
              <a:rPr sz="1400" spc="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that</a:t>
            </a:r>
            <a:r>
              <a:rPr sz="14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1400" spc="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end</a:t>
            </a:r>
            <a:r>
              <a:rPr sz="1400" spc="-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product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meets</a:t>
            </a:r>
            <a:r>
              <a:rPr sz="1400" b="1" spc="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1C1C1C"/>
                </a:solidFill>
                <a:latin typeface="Calibri"/>
                <a:cs typeface="Calibri"/>
              </a:rPr>
              <a:t>the 	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desired</a:t>
            </a:r>
            <a:r>
              <a:rPr sz="1400" b="1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C1C1C"/>
                </a:solidFill>
                <a:latin typeface="Calibri"/>
                <a:cs typeface="Calibri"/>
              </a:rPr>
              <a:t>requirements</a:t>
            </a:r>
            <a:r>
              <a:rPr sz="1400" b="1" spc="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and</a:t>
            </a:r>
            <a:r>
              <a:rPr sz="1400" b="1" spc="-7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C1C1C"/>
                </a:solidFill>
                <a:latin typeface="Calibri"/>
                <a:cs typeface="Calibri"/>
              </a:rPr>
              <a:t>standards.</a:t>
            </a:r>
            <a:endParaRPr sz="1400" b="1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1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spc="-20" dirty="0">
                <a:latin typeface="Calibri"/>
                <a:cs typeface="Calibri"/>
              </a:rPr>
              <a:t>Test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typically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contain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inputs,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expected</a:t>
            </a:r>
            <a:r>
              <a:rPr sz="1400" b="1" spc="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outputs,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and</a:t>
            </a:r>
            <a:endParaRPr sz="1400" b="1" dirty="0">
              <a:latin typeface="Calibri"/>
              <a:cs typeface="Calibri"/>
            </a:endParaRPr>
          </a:p>
          <a:p>
            <a:pPr marL="241300" algn="just">
              <a:lnSpc>
                <a:spcPct val="100000"/>
              </a:lnSpc>
              <a:spcBef>
                <a:spcPts val="845"/>
              </a:spcBef>
            </a:pPr>
            <a:r>
              <a:rPr sz="1400" b="1" dirty="0">
                <a:latin typeface="Calibri"/>
                <a:cs typeface="Calibri"/>
              </a:rPr>
              <a:t>conditions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must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pass.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we</a:t>
            </a:r>
            <a:r>
              <a:rPr sz="1400" spc="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identify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defects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issues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product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address</a:t>
            </a:r>
            <a:endParaRPr sz="1400" dirty="0">
              <a:latin typeface="Calibri"/>
              <a:cs typeface="Calibri"/>
            </a:endParaRPr>
          </a:p>
          <a:p>
            <a:pPr marL="241300" algn="just">
              <a:lnSpc>
                <a:spcPct val="100000"/>
              </a:lnSpc>
              <a:spcBef>
                <a:spcPts val="844"/>
              </a:spcBef>
            </a:pPr>
            <a:r>
              <a:rPr sz="1400" dirty="0">
                <a:latin typeface="Calibri"/>
                <a:cs typeface="Calibri"/>
              </a:rPr>
              <a:t>them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released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end-</a:t>
            </a:r>
            <a:r>
              <a:rPr sz="1400" spc="-10" dirty="0">
                <a:latin typeface="Calibri"/>
                <a:cs typeface="Calibri"/>
              </a:rPr>
              <a:t>users.</a:t>
            </a:r>
            <a:endParaRPr sz="1400" dirty="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Various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design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techniques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help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design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robust</a:t>
            </a:r>
            <a:r>
              <a:rPr sz="1400" b="1" spc="9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and 	</a:t>
            </a:r>
            <a:r>
              <a:rPr sz="1400" b="1" dirty="0">
                <a:latin typeface="Calibri"/>
                <a:cs typeface="Calibri"/>
              </a:rPr>
              <a:t>reliable</a:t>
            </a:r>
            <a:r>
              <a:rPr sz="1400" b="1" spc="3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test</a:t>
            </a:r>
            <a:r>
              <a:rPr sz="1400" b="1" spc="3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case</a:t>
            </a:r>
            <a:r>
              <a:rPr sz="1400" b="1" spc="3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that</a:t>
            </a:r>
            <a:r>
              <a:rPr sz="1400" b="1" spc="3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covers</a:t>
            </a:r>
            <a:r>
              <a:rPr sz="1400" b="1" spc="3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all</a:t>
            </a:r>
            <a:r>
              <a:rPr sz="1400" b="1" spc="3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our</a:t>
            </a:r>
            <a:r>
              <a:rPr sz="1400" b="1" spc="3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software’s</a:t>
            </a:r>
            <a:r>
              <a:rPr sz="1400" b="1" spc="3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features</a:t>
            </a:r>
            <a:r>
              <a:rPr sz="1400" b="1" spc="35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and 	</a:t>
            </a:r>
            <a:r>
              <a:rPr sz="1400" b="1" spc="-10" dirty="0">
                <a:latin typeface="Calibri"/>
                <a:cs typeface="Calibri"/>
              </a:rPr>
              <a:t>functions.</a:t>
            </a:r>
            <a:endParaRPr sz="1400" b="1" dirty="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These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design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techniques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implicate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multiple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measures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aim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to 	</a:t>
            </a:r>
            <a:r>
              <a:rPr sz="1400" dirty="0">
                <a:latin typeface="Calibri"/>
                <a:cs typeface="Calibri"/>
              </a:rPr>
              <a:t>guarantee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effectiveness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cases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finding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bugs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any 	</a:t>
            </a:r>
            <a:r>
              <a:rPr sz="1400" dirty="0">
                <a:latin typeface="Calibri"/>
                <a:cs typeface="Calibri"/>
              </a:rPr>
              <a:t>other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defects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software.</a:t>
            </a:r>
            <a:endParaRPr lang="en-IN" sz="1400" spc="-10" dirty="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endParaRPr lang="en-IN" sz="1400" spc="-10" dirty="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464" y="549351"/>
            <a:ext cx="278955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Calibri"/>
                <a:cs typeface="Calibri"/>
              </a:rPr>
              <a:t>Types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30" dirty="0">
                <a:latin typeface="Calibri"/>
                <a:cs typeface="Calibri"/>
              </a:rPr>
              <a:t> Test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Case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Design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Techniques: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999744"/>
            <a:ext cx="5715000" cy="464210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FF0BD0-FAC5-F907-FF47-386A619C6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552264"/>
              </p:ext>
            </p:extLst>
          </p:nvPr>
        </p:nvGraphicFramePr>
        <p:xfrm>
          <a:off x="838200" y="5998845"/>
          <a:ext cx="4953000" cy="135255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189128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Fix issues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before releasing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the product to end users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60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Without test cases, software may reach users with serious problems.</a:t>
                      </a:r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843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063896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9435"/>
            <a:ext cx="3980179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solidFill>
                  <a:srgbClr val="232323"/>
                </a:solidFill>
                <a:latin typeface="Calibri"/>
                <a:cs typeface="Calibri"/>
              </a:rPr>
              <a:t>Specification-</a:t>
            </a:r>
            <a:r>
              <a:rPr sz="1700" b="1" dirty="0">
                <a:solidFill>
                  <a:srgbClr val="232323"/>
                </a:solidFill>
                <a:latin typeface="Calibri"/>
                <a:cs typeface="Calibri"/>
              </a:rPr>
              <a:t>Based</a:t>
            </a:r>
            <a:r>
              <a:rPr sz="1700" b="1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700" b="1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232323"/>
                </a:solidFill>
                <a:latin typeface="Calibri"/>
                <a:cs typeface="Calibri"/>
              </a:rPr>
              <a:t>Black-</a:t>
            </a:r>
            <a:r>
              <a:rPr sz="1700" b="1" dirty="0">
                <a:solidFill>
                  <a:srgbClr val="232323"/>
                </a:solidFill>
                <a:latin typeface="Calibri"/>
                <a:cs typeface="Calibri"/>
              </a:rPr>
              <a:t>Box</a:t>
            </a:r>
            <a:r>
              <a:rPr sz="17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232323"/>
                </a:solidFill>
                <a:latin typeface="Calibri"/>
                <a:cs typeface="Calibri"/>
              </a:rPr>
              <a:t>Techniques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807271"/>
            <a:ext cx="5024755" cy="2484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 algn="just">
              <a:lnSpc>
                <a:spcPct val="1501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Specification-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based</a:t>
            </a:r>
            <a:r>
              <a:rPr sz="1700" spc="2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testing,</a:t>
            </a:r>
            <a:r>
              <a:rPr sz="1700" spc="3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also</a:t>
            </a:r>
            <a:r>
              <a:rPr sz="1700" spc="2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known</a:t>
            </a:r>
            <a:r>
              <a:rPr sz="1700" spc="3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1700" spc="3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black-</a:t>
            </a:r>
            <a:r>
              <a:rPr sz="1700" spc="-25" dirty="0">
                <a:solidFill>
                  <a:srgbClr val="232323"/>
                </a:solidFill>
                <a:latin typeface="Calibri"/>
                <a:cs typeface="Calibri"/>
              </a:rPr>
              <a:t>box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testing,</a:t>
            </a:r>
            <a:r>
              <a:rPr sz="1700" spc="3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700" spc="3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700" spc="3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700" spc="3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that</a:t>
            </a:r>
            <a:r>
              <a:rPr sz="1700" spc="3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concentrates</a:t>
            </a:r>
            <a:r>
              <a:rPr sz="1700" spc="3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700" spc="3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testing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7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software</a:t>
            </a:r>
            <a:r>
              <a:rPr sz="17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7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based</a:t>
            </a:r>
            <a:r>
              <a:rPr sz="17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7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its</a:t>
            </a:r>
            <a:r>
              <a:rPr sz="17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functioning</a:t>
            </a:r>
            <a:r>
              <a:rPr sz="17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without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any</a:t>
            </a:r>
            <a:r>
              <a:rPr sz="1700" spc="114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knowledge</a:t>
            </a:r>
            <a:r>
              <a:rPr sz="1700" spc="13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regarding</a:t>
            </a:r>
            <a:r>
              <a:rPr sz="1700" spc="12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700" spc="12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underlying</a:t>
            </a:r>
            <a:r>
              <a:rPr sz="1700" spc="13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code</a:t>
            </a:r>
            <a:r>
              <a:rPr sz="1700" spc="13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spc="-25" dirty="0">
                <a:solidFill>
                  <a:srgbClr val="232323"/>
                </a:solidFill>
                <a:latin typeface="Calibri"/>
                <a:cs typeface="Calibri"/>
              </a:rPr>
              <a:t>or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structure.</a:t>
            </a:r>
            <a:endParaRPr sz="17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7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7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7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further</a:t>
            </a:r>
            <a:r>
              <a:rPr sz="17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classified</a:t>
            </a:r>
            <a:r>
              <a:rPr sz="17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232323"/>
                </a:solidFill>
                <a:latin typeface="Calibri"/>
                <a:cs typeface="Calibri"/>
              </a:rPr>
              <a:t>as: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0416" y="3302968"/>
            <a:ext cx="2979420" cy="15132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99085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Boundary</a:t>
            </a:r>
            <a:r>
              <a:rPr sz="17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Value</a:t>
            </a:r>
            <a:r>
              <a:rPr sz="17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Analysis</a:t>
            </a:r>
            <a:r>
              <a:rPr sz="17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232323"/>
                </a:solidFill>
                <a:latin typeface="Calibri"/>
                <a:cs typeface="Calibri"/>
              </a:rPr>
              <a:t>(BVA)</a:t>
            </a:r>
            <a:endParaRPr sz="17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99085" algn="l"/>
              </a:tabLst>
            </a:pP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Equivalence</a:t>
            </a:r>
            <a:r>
              <a:rPr sz="17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Partitioning</a:t>
            </a:r>
            <a:r>
              <a:rPr sz="17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232323"/>
                </a:solidFill>
                <a:latin typeface="Calibri"/>
                <a:cs typeface="Calibri"/>
              </a:rPr>
              <a:t>(EP)</a:t>
            </a:r>
            <a:endParaRPr sz="17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99085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7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7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endParaRPr sz="17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299085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State</a:t>
            </a:r>
            <a:r>
              <a:rPr sz="17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232323"/>
                </a:solidFill>
                <a:latin typeface="Calibri"/>
                <a:cs typeface="Calibri"/>
              </a:rPr>
              <a:t>Transition</a:t>
            </a:r>
            <a:r>
              <a:rPr sz="17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Diagrams</a:t>
            </a:r>
            <a:endParaRPr sz="17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99085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Use</a:t>
            </a:r>
            <a:r>
              <a:rPr sz="17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Case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528252"/>
            <a:ext cx="5027930" cy="1578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499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700" spc="3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700" spc="3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technique,</a:t>
            </a:r>
            <a:r>
              <a:rPr sz="1700" spc="3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700" spc="3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1700" spc="3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1700" spc="3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700" spc="3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700" spc="3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700" spc="3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r>
              <a:rPr sz="17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at</a:t>
            </a:r>
            <a:r>
              <a:rPr sz="17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7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near</a:t>
            </a:r>
            <a:r>
              <a:rPr sz="17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7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border</a:t>
            </a:r>
            <a:r>
              <a:rPr sz="17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values.</a:t>
            </a:r>
            <a:r>
              <a:rPr sz="17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7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7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often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contain</a:t>
            </a:r>
            <a:r>
              <a:rPr sz="1700" spc="6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values</a:t>
            </a:r>
            <a:r>
              <a:rPr sz="1700" spc="7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from</a:t>
            </a:r>
            <a:r>
              <a:rPr sz="1700" spc="7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700" spc="8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upper</a:t>
            </a:r>
            <a:r>
              <a:rPr sz="1700" spc="8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boundary</a:t>
            </a:r>
            <a:r>
              <a:rPr sz="1700" spc="7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700" spc="6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700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lower</a:t>
            </a:r>
            <a:r>
              <a:rPr sz="17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boundary.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2205837"/>
            <a:ext cx="5024120" cy="2288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7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700" spc="2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make</a:t>
            </a:r>
            <a:r>
              <a:rPr sz="1700" spc="3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1700" spc="3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task</a:t>
            </a:r>
            <a:r>
              <a:rPr sz="1700" spc="3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more</a:t>
            </a:r>
            <a:r>
              <a:rPr sz="1700" spc="3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manageable,</a:t>
            </a:r>
            <a:r>
              <a:rPr sz="1700" spc="3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BVA</a:t>
            </a:r>
            <a:r>
              <a:rPr sz="1700" spc="3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offers</a:t>
            </a:r>
            <a:r>
              <a:rPr sz="1700" spc="3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232323"/>
                </a:solidFill>
                <a:latin typeface="Calibri"/>
                <a:cs typeface="Calibri"/>
              </a:rPr>
              <a:t>us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four</a:t>
            </a:r>
            <a:r>
              <a:rPr sz="17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main</a:t>
            </a:r>
            <a:r>
              <a:rPr sz="1700" spc="-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7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scenarios,</a:t>
            </a:r>
            <a:r>
              <a:rPr sz="17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17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mentioned</a:t>
            </a:r>
            <a:r>
              <a:rPr sz="17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below.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Minimum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Just</a:t>
            </a:r>
            <a:r>
              <a:rPr sz="17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below</a:t>
            </a:r>
            <a:r>
              <a:rPr sz="17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7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boundary</a:t>
            </a:r>
            <a:r>
              <a:rPr sz="17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values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Maximum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Just</a:t>
            </a:r>
            <a:r>
              <a:rPr sz="17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above</a:t>
            </a:r>
            <a:r>
              <a:rPr sz="17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7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32323"/>
                </a:solidFill>
                <a:latin typeface="Calibri"/>
                <a:cs typeface="Calibri"/>
              </a:rPr>
              <a:t>boundary</a:t>
            </a:r>
            <a:r>
              <a:rPr sz="17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232323"/>
                </a:solidFill>
                <a:latin typeface="Calibri"/>
                <a:cs typeface="Calibri"/>
              </a:rPr>
              <a:t>values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712" y="514510"/>
            <a:ext cx="502158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Let’s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understand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by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taking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simple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example</a:t>
            </a:r>
            <a:r>
              <a:rPr sz="14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validation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form.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712" y="2728975"/>
            <a:ext cx="36493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Name: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Validate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form.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712" y="3069386"/>
            <a:ext cx="50260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Condition:</a:t>
            </a:r>
            <a:r>
              <a:rPr sz="1400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valid</a:t>
            </a:r>
            <a:r>
              <a:rPr sz="14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adult</a:t>
            </a:r>
            <a:r>
              <a:rPr sz="14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between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[18</a:t>
            </a:r>
            <a:r>
              <a:rPr sz="1400" spc="1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59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yrs],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both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inclusive.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712" y="3838353"/>
            <a:ext cx="5024755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Expected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Behavior: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not</a:t>
            </a:r>
            <a:r>
              <a:rPr sz="1400" spc="1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valid</a:t>
            </a:r>
            <a:r>
              <a:rPr sz="1400" spc="1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(i.e.</a:t>
            </a:r>
            <a:r>
              <a:rPr sz="140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&lt;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or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&gt;=60),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then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form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prompt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“To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register,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you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be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between 18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yrs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59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yrs.”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alert.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540207"/>
            <a:ext cx="21717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5" dirty="0">
                <a:latin typeface="Calibri"/>
                <a:cs typeface="Calibri"/>
              </a:rPr>
              <a:t>Fg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2960420"/>
            <a:ext cx="502666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Boundary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Value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Analysis:</a:t>
            </a:r>
            <a:r>
              <a:rPr sz="14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ensure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functionality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works,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can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boundaries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possible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inputs.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Possible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valid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inputs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for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are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natural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numbers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between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59.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027" y="1518497"/>
            <a:ext cx="3973330" cy="9453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1904" y="893063"/>
            <a:ext cx="4306824" cy="18867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3471" y="4172711"/>
            <a:ext cx="4881724" cy="8400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0291"/>
            <a:ext cx="5019675" cy="540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Hence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designed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will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follows: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b="1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1:</a:t>
            </a:r>
            <a:r>
              <a:rPr sz="1400" b="1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(Just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Below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Minimum)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Input: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=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17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2350"/>
              </a:lnSpc>
              <a:spcBef>
                <a:spcPts val="190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Expected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Output:</a:t>
            </a:r>
            <a:r>
              <a:rPr sz="14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“To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register</a:t>
            </a:r>
            <a:r>
              <a:rPr sz="14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you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between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yrs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59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yrs.”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alert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popups.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2: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 (Minimum)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Input: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=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Expected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Output: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Proceed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Registration.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3: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 (Maximum)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Input: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=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59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Expected</a:t>
            </a:r>
            <a:r>
              <a:rPr sz="14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Output:</a:t>
            </a:r>
            <a:r>
              <a:rPr sz="14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Proceed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Registration.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66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Test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b="1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4: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(Just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Above</a:t>
            </a:r>
            <a:r>
              <a:rPr sz="1400" b="1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Maximum)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Input: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=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60</a:t>
            </a:r>
            <a:endParaRPr sz="1400">
              <a:latin typeface="Calibri"/>
              <a:cs typeface="Calibri"/>
            </a:endParaRPr>
          </a:p>
          <a:p>
            <a:pPr marL="12700" marR="333375">
              <a:lnSpc>
                <a:spcPct val="140000"/>
              </a:lnSpc>
              <a:spcBef>
                <a:spcPts val="5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Expected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Output: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“To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register,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 you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between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yrs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59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yrs.”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alert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popups.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464" y="643839"/>
            <a:ext cx="21450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Equivalence</a:t>
            </a:r>
            <a:r>
              <a:rPr sz="1400" b="1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Partitioning</a:t>
            </a:r>
            <a:r>
              <a:rPr sz="1400" b="1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(EP)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464" y="981126"/>
            <a:ext cx="502158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2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Equivalence</a:t>
            </a:r>
            <a:r>
              <a:rPr sz="1400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Partitioning</a:t>
            </a:r>
            <a:r>
              <a:rPr sz="140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testing,</a:t>
            </a:r>
            <a:r>
              <a:rPr sz="140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entire range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split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into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separate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partitions.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1749729"/>
            <a:ext cx="502158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All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imaginable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are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assessed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divided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into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logical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sets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-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named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classes.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2517522"/>
            <a:ext cx="5024120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One</a:t>
            </a:r>
            <a:r>
              <a:rPr sz="1400" spc="2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random</a:t>
            </a:r>
            <a:r>
              <a:rPr sz="1400" spc="2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2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value</a:t>
            </a:r>
            <a:r>
              <a:rPr sz="1400" spc="25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229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selected</a:t>
            </a:r>
            <a:r>
              <a:rPr sz="1400" spc="2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from</a:t>
            </a:r>
            <a:r>
              <a:rPr sz="1400" spc="2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each</a:t>
            </a:r>
            <a:r>
              <a:rPr sz="1400" spc="2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class</a:t>
            </a:r>
            <a:r>
              <a:rPr sz="1400" spc="2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during</a:t>
            </a:r>
            <a:r>
              <a:rPr sz="1400" spc="2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4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execution.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3391915"/>
            <a:ext cx="31413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Equivalence</a:t>
            </a:r>
            <a:r>
              <a:rPr sz="1400" b="1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Partitioning: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3731818"/>
            <a:ext cx="502285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functionality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from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form</a:t>
            </a:r>
            <a:r>
              <a:rPr sz="14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(i.e.,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it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accept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spc="1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between</a:t>
            </a:r>
            <a:r>
              <a:rPr sz="14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r>
              <a:rPr sz="14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1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59,</a:t>
            </a:r>
            <a:r>
              <a:rPr sz="14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both</a:t>
            </a:r>
            <a:r>
              <a:rPr sz="14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inclusive;</a:t>
            </a:r>
            <a:r>
              <a:rPr sz="14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otherwise,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produce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error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alert),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will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first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find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all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possible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similar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types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-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inputs</a:t>
            </a:r>
            <a:r>
              <a:rPr sz="14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then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place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them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into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separate classes.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8579"/>
            <a:ext cx="5021580" cy="231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case,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divide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into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three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groups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classes: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56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b="1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&lt;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–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Invalid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–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(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e.g.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1,</a:t>
            </a:r>
            <a:r>
              <a:rPr sz="1400" i="1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2,</a:t>
            </a:r>
            <a:r>
              <a:rPr sz="1400" i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3,</a:t>
            </a:r>
            <a:r>
              <a:rPr sz="1400" i="1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4,</a:t>
            </a:r>
            <a:r>
              <a:rPr sz="1400" i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…,</a:t>
            </a:r>
            <a:r>
              <a:rPr sz="1400" i="1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up</a:t>
            </a:r>
            <a:r>
              <a:rPr sz="1400" i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i="1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spc="-20" dirty="0">
                <a:solidFill>
                  <a:srgbClr val="232323"/>
                </a:solidFill>
                <a:latin typeface="Calibri"/>
                <a:cs typeface="Calibri"/>
              </a:rPr>
              <a:t>17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).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232323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&lt;=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&lt;=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59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–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Valid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–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(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e.g.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18, 19,</a:t>
            </a:r>
            <a:r>
              <a:rPr sz="1400" i="1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20, …,</a:t>
            </a:r>
            <a:r>
              <a:rPr sz="1400" i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upto </a:t>
            </a:r>
            <a:r>
              <a:rPr sz="1400" i="1" spc="-20" dirty="0">
                <a:solidFill>
                  <a:srgbClr val="232323"/>
                </a:solidFill>
                <a:latin typeface="Calibri"/>
                <a:cs typeface="Calibri"/>
              </a:rPr>
              <a:t>59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).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232323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Age</a:t>
            </a:r>
            <a:r>
              <a:rPr sz="1400" b="1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&gt;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59</a:t>
            </a:r>
            <a:r>
              <a:rPr sz="1400" b="1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–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Invalid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–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(For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e.g.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60, 61,</a:t>
            </a:r>
            <a:r>
              <a:rPr sz="1400" i="1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32323"/>
                </a:solidFill>
                <a:latin typeface="Calibri"/>
                <a:cs typeface="Calibri"/>
              </a:rPr>
              <a:t>62, 63,</a:t>
            </a:r>
            <a:r>
              <a:rPr sz="1400" i="1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i="1" spc="-25" dirty="0">
                <a:solidFill>
                  <a:srgbClr val="232323"/>
                </a:solidFill>
                <a:latin typeface="Calibri"/>
                <a:cs typeface="Calibri"/>
              </a:rPr>
              <a:t>…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50200"/>
              </a:lnSpc>
              <a:spcBef>
                <a:spcPts val="985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have</a:t>
            </a:r>
            <a:r>
              <a:rPr sz="14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infinite</a:t>
            </a:r>
            <a:r>
              <a:rPr sz="1400" b="1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b="1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1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pick,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but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only</a:t>
            </a:r>
            <a:r>
              <a:rPr sz="14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need</a:t>
            </a:r>
            <a:r>
              <a:rPr sz="1400" spc="2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one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value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from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each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class.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2882696"/>
            <a:ext cx="502285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reduces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number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tests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need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perform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but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increases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1400" b="1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coverage.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3650616"/>
            <a:ext cx="5022850" cy="986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5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So,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perform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these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tests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definite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number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only,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2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value</a:t>
            </a:r>
            <a:r>
              <a:rPr sz="1400" spc="2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will</a:t>
            </a:r>
            <a:r>
              <a:rPr sz="1400" spc="2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2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picked</a:t>
            </a:r>
            <a:r>
              <a:rPr sz="1400" spc="20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randomly</a:t>
            </a:r>
            <a:r>
              <a:rPr sz="1400" spc="2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from</a:t>
            </a:r>
            <a:r>
              <a:rPr sz="1400" spc="2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each</a:t>
            </a:r>
            <a:r>
              <a:rPr sz="1400" spc="2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class</a:t>
            </a:r>
            <a:r>
              <a:rPr sz="1400" spc="2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2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track</a:t>
            </a:r>
            <a:r>
              <a:rPr sz="1400" b="1" spc="2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expected</a:t>
            </a:r>
            <a:r>
              <a:rPr sz="14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behavior</a:t>
            </a: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b="1" spc="-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each</a:t>
            </a:r>
            <a:r>
              <a:rPr sz="1400" b="1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input.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643839"/>
            <a:ext cx="5023485" cy="3180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Decision</a:t>
            </a:r>
            <a:r>
              <a:rPr sz="1400" b="1" spc="-20" dirty="0">
                <a:latin typeface="Calibri"/>
                <a:cs typeface="Calibri"/>
              </a:rPr>
              <a:t> Table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Testing</a:t>
            </a:r>
            <a:endParaRPr sz="1400" dirty="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23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400" spc="24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400" spc="25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23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24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spc="25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that</a:t>
            </a:r>
            <a:r>
              <a:rPr sz="1400" spc="25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demonstrates</a:t>
            </a:r>
            <a:r>
              <a:rPr sz="1400" spc="25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relationship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between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inputs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provided,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rules,</a:t>
            </a:r>
            <a:r>
              <a:rPr sz="14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output,</a:t>
            </a:r>
            <a:r>
              <a:rPr sz="14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test 	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conditions.</a:t>
            </a:r>
            <a:endParaRPr sz="14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2794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	In</a:t>
            </a:r>
            <a:r>
              <a:rPr sz="1400" spc="3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3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spc="3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1400" spc="3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techniques,</a:t>
            </a:r>
            <a:r>
              <a:rPr sz="1400" spc="3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409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400" spc="3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400" spc="3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3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4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very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efficient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way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-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complex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cases.</a:t>
            </a:r>
            <a:endParaRPr sz="1400" dirty="0">
              <a:latin typeface="Calibri"/>
              <a:cs typeface="Calibri"/>
            </a:endParaRPr>
          </a:p>
          <a:p>
            <a:pPr marL="240029" marR="7620" indent="-227329" algn="just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2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400" spc="2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400" spc="2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allows</a:t>
            </a:r>
            <a:r>
              <a:rPr sz="1400" spc="2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automation</a:t>
            </a:r>
            <a:r>
              <a:rPr sz="1400" spc="25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testers</a:t>
            </a:r>
            <a:r>
              <a:rPr sz="1400" spc="2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400" spc="2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developers</a:t>
            </a:r>
            <a:r>
              <a:rPr sz="1400" spc="2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to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inspect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all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credible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combinations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conditions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testing.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True(T)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False(F)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values</a:t>
            </a:r>
            <a:r>
              <a:rPr sz="14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signify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criteria.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5726"/>
            <a:ext cx="502348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400" b="1" spc="10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400" b="1" spc="11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r>
              <a:rPr sz="1400" b="1" spc="10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b="1" spc="10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b="1" spc="10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9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b="1" spc="4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1400" b="1" spc="10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b="1" spc="9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that 	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examines</a:t>
            </a:r>
            <a:r>
              <a:rPr sz="1400" b="1" spc="24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how</a:t>
            </a:r>
            <a:r>
              <a:rPr sz="1400" b="1" spc="24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b="1" spc="25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software</a:t>
            </a:r>
            <a:r>
              <a:rPr sz="1400" b="1" spc="24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responds</a:t>
            </a:r>
            <a:r>
              <a:rPr sz="1400" b="1" spc="24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b="1" spc="25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different</a:t>
            </a:r>
            <a:r>
              <a:rPr sz="1400" b="1" spc="24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input 	combinations.</a:t>
            </a:r>
            <a:endParaRPr sz="1400" b="1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540941"/>
            <a:ext cx="502412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1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technique,</a:t>
            </a:r>
            <a:r>
              <a:rPr sz="1400" spc="1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various</a:t>
            </a:r>
            <a:r>
              <a:rPr sz="1400" b="1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input</a:t>
            </a:r>
            <a:r>
              <a:rPr sz="1400" b="1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combinations</a:t>
            </a:r>
            <a:r>
              <a:rPr sz="1400" spc="1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400" spc="1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and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concurrent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behavior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(or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output)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are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tabulated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form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table.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2630456"/>
            <a:ext cx="5020945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That’s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why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it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also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known</a:t>
            </a:r>
            <a:r>
              <a:rPr sz="14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b="1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Cause/Effect</a:t>
            </a:r>
            <a:r>
              <a:rPr sz="1400" b="1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table,</a:t>
            </a:r>
            <a:r>
              <a:rPr sz="1400" b="1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it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captures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both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cause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effect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-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enhanced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coverage.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3398806"/>
            <a:ext cx="5020945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Automation</a:t>
            </a:r>
            <a:r>
              <a:rPr sz="1400" spc="2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testers</a:t>
            </a:r>
            <a:r>
              <a:rPr sz="1400" spc="1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400" spc="2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developers</a:t>
            </a:r>
            <a:r>
              <a:rPr sz="1400" spc="1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mainly</a:t>
            </a:r>
            <a:r>
              <a:rPr sz="1400" spc="20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</a:t>
            </a:r>
            <a:r>
              <a:rPr sz="14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2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spc="2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to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make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complex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tasks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that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involve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lots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conditions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checked.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4484039"/>
            <a:ext cx="502602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1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understand</a:t>
            </a:r>
            <a:r>
              <a:rPr sz="140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40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4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r>
              <a:rPr sz="1400" spc="1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better,</a:t>
            </a:r>
            <a:r>
              <a:rPr sz="1400" spc="1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let’s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consider</a:t>
            </a:r>
            <a:r>
              <a:rPr sz="14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world example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upload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image</a:t>
            </a:r>
            <a:r>
              <a:rPr sz="14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feature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in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software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643839"/>
            <a:ext cx="262509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Name: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Test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upload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form.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981126"/>
            <a:ext cx="502348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1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Condition:</a:t>
            </a:r>
            <a:r>
              <a:rPr sz="1400" b="1" spc="2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Upload</a:t>
            </a:r>
            <a:r>
              <a:rPr sz="1400" spc="1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option</a:t>
            </a:r>
            <a:r>
              <a:rPr sz="1400" spc="20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20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upload</a:t>
            </a:r>
            <a:r>
              <a:rPr sz="1400" spc="2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image(JPEG)</a:t>
            </a:r>
            <a:r>
              <a:rPr sz="1400" spc="2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only</a:t>
            </a:r>
            <a:r>
              <a:rPr sz="1400" spc="1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and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that too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size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less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than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1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Mb.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2464" y="1749729"/>
            <a:ext cx="502793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Expected</a:t>
            </a:r>
            <a:r>
              <a:rPr sz="1400" b="1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Behavior:</a:t>
            </a:r>
            <a:r>
              <a:rPr sz="1400" b="1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not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image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or not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less than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1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Mb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size,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then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it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1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pop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“invalid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Image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size”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alert;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otherwise,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it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accept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upload.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2464" y="2852166"/>
            <a:ext cx="28949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b="1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using</a:t>
            </a: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400" b="1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400" b="1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Testing: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2464" y="3155062"/>
            <a:ext cx="4815840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Based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upon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conditions,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should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software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following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conditions: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2464" y="4032250"/>
            <a:ext cx="34874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uploaded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Image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JPEG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format.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2464" y="4480305"/>
            <a:ext cx="27660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Image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size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less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than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1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Mb.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2464" y="4818285"/>
            <a:ext cx="4941570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any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conditions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are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not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satisfied,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software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will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display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“invalid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input”</a:t>
            </a:r>
            <a:r>
              <a:rPr sz="14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alert,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all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requirements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are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met,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image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will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correctly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uploaded.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8579"/>
            <a:ext cx="4389120" cy="430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95"/>
              </a:spcBef>
            </a:pP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Now,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let’s</a:t>
            </a:r>
            <a:r>
              <a:rPr sz="1400" b="1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try</a:t>
            </a:r>
            <a:r>
              <a:rPr sz="14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make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decision</a:t>
            </a:r>
            <a:r>
              <a:rPr sz="1400" b="1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b="1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most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suitable</a:t>
            </a:r>
            <a:r>
              <a:rPr sz="1400" b="1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cases.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400" y="1309877"/>
          <a:ext cx="4735193" cy="268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3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Conditions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30" dirty="0">
                          <a:latin typeface="Calibri"/>
                          <a:cs typeface="Calibri"/>
                        </a:rPr>
                        <a:t>Test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30" dirty="0">
                          <a:latin typeface="Calibri"/>
                          <a:cs typeface="Calibri"/>
                        </a:rPr>
                        <a:t>Test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Test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30" dirty="0">
                          <a:latin typeface="Calibri"/>
                          <a:cs typeface="Calibri"/>
                        </a:rPr>
                        <a:t>Test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1915" marR="34607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Image Format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.jpg/.jpeg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.jpg/.jpeg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Not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.jpg/.jpeg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Not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.jpg/.jpeg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Image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Size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1Mb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&gt;=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Mb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Mb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&gt;=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1Mb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Upload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image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Invalid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input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Invalid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input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Invalid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input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35318" y="677671"/>
            <a:ext cx="2674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State</a:t>
            </a:r>
            <a:r>
              <a:rPr sz="180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"/>
                <a:cs typeface="Arial"/>
              </a:rPr>
              <a:t>Transition</a:t>
            </a:r>
            <a:r>
              <a:rPr sz="180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"/>
                <a:cs typeface="Arial"/>
              </a:rPr>
              <a:t>Testing: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5318" y="913942"/>
            <a:ext cx="4766945" cy="514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5080" indent="-284480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State,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Transition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Diagram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Testing,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11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12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software</a:t>
            </a:r>
            <a:r>
              <a:rPr sz="1400" spc="12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testing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used</a:t>
            </a:r>
            <a:r>
              <a:rPr sz="1400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check</a:t>
            </a:r>
            <a:r>
              <a:rPr sz="14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transformation</a:t>
            </a:r>
            <a:r>
              <a:rPr sz="140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state</a:t>
            </a:r>
            <a:r>
              <a:rPr sz="1400" spc="1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of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application</a:t>
            </a:r>
            <a:r>
              <a:rPr sz="14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software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under changing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input.</a:t>
            </a:r>
            <a:endParaRPr sz="1400">
              <a:latin typeface="Calibri"/>
              <a:cs typeface="Calibri"/>
            </a:endParaRPr>
          </a:p>
          <a:p>
            <a:pPr marL="297180" indent="-284480" algn="just">
              <a:lnSpc>
                <a:spcPct val="100000"/>
              </a:lnSpc>
              <a:spcBef>
                <a:spcPts val="845"/>
              </a:spcBef>
              <a:buFont typeface="Arial MT"/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3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requirement</a:t>
            </a:r>
            <a:r>
              <a:rPr sz="1400" spc="3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3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409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input</a:t>
            </a:r>
            <a:r>
              <a:rPr sz="1400" b="1" spc="3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passed</a:t>
            </a:r>
            <a:r>
              <a:rPr sz="1400" b="1" spc="3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b="1" spc="3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varied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,</a:t>
            </a:r>
            <a:r>
              <a:rPr sz="1400" spc="3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3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change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b="1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state</a:t>
            </a:r>
            <a:r>
              <a:rPr sz="1400" b="1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b="1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b="1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application</a:t>
            </a:r>
            <a:r>
              <a:rPr sz="1400" b="1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b="1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observed.</a:t>
            </a:r>
            <a:endParaRPr sz="1400">
              <a:latin typeface="Calibri"/>
              <a:cs typeface="Calibri"/>
            </a:endParaRPr>
          </a:p>
          <a:p>
            <a:pPr marL="296545" marR="7620" indent="-284480" algn="just">
              <a:lnSpc>
                <a:spcPct val="150000"/>
              </a:lnSpc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State</a:t>
            </a:r>
            <a:r>
              <a:rPr sz="1400" spc="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Transition</a:t>
            </a:r>
            <a:r>
              <a:rPr sz="1400" spc="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Testing</a:t>
            </a:r>
            <a:r>
              <a:rPr sz="1400" spc="8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r>
              <a:rPr sz="1400" spc="7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mainly</a:t>
            </a:r>
            <a:r>
              <a:rPr sz="1400" spc="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carried</a:t>
            </a:r>
            <a:r>
              <a:rPr sz="1400" spc="8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out</a:t>
            </a:r>
            <a:r>
              <a:rPr sz="1400" spc="9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400" spc="7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Arial MT"/>
                <a:cs typeface="Arial MT"/>
              </a:rPr>
              <a:t>monitor 	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40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behavior</a:t>
            </a:r>
            <a:r>
              <a:rPr sz="14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40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400" spc="-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Arial MT"/>
                <a:cs typeface="Arial MT"/>
              </a:rPr>
              <a:t>application</a:t>
            </a:r>
            <a:r>
              <a:rPr sz="1400" b="1" spc="-10" dirty="0">
                <a:solidFill>
                  <a:srgbClr val="232323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296545" marR="8255" indent="-284480" algn="just">
              <a:lnSpc>
                <a:spcPct val="150100"/>
              </a:lnSpc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sz="1400" spc="4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this</a:t>
            </a:r>
            <a:r>
              <a:rPr sz="1400" spc="3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type</a:t>
            </a:r>
            <a:r>
              <a:rPr sz="1400" spc="40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400" spc="4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testing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,</a:t>
            </a:r>
            <a:r>
              <a:rPr sz="1400" b="1" spc="40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negative</a:t>
            </a:r>
            <a:r>
              <a:rPr sz="1400" b="1" spc="40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and</a:t>
            </a:r>
            <a:r>
              <a:rPr sz="1400" b="1" spc="38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positive</a:t>
            </a:r>
            <a:r>
              <a:rPr sz="1400" b="1" spc="40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Arial"/>
                <a:cs typeface="Arial"/>
              </a:rPr>
              <a:t>input 	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values</a:t>
            </a:r>
            <a:r>
              <a:rPr sz="140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are</a:t>
            </a:r>
            <a:r>
              <a:rPr sz="140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passed,</a:t>
            </a:r>
            <a:r>
              <a:rPr sz="140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40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40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behavior</a:t>
            </a:r>
            <a:r>
              <a:rPr sz="140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40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400" spc="-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application</a:t>
            </a:r>
            <a:r>
              <a:rPr sz="140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Arial MT"/>
                <a:cs typeface="Arial MT"/>
              </a:rPr>
              <a:t>or 	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software</a:t>
            </a:r>
            <a:r>
              <a:rPr sz="14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r>
              <a:rPr sz="1400" spc="-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Arial MT"/>
                <a:cs typeface="Arial MT"/>
              </a:rPr>
              <a:t>observed.</a:t>
            </a:r>
            <a:endParaRPr sz="1400">
              <a:latin typeface="Arial MT"/>
              <a:cs typeface="Arial MT"/>
            </a:endParaRPr>
          </a:p>
          <a:p>
            <a:pPr marL="297180" indent="-284480" algn="just">
              <a:lnSpc>
                <a:spcPct val="100000"/>
              </a:lnSpc>
              <a:spcBef>
                <a:spcPts val="840"/>
              </a:spcBef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4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perform</a:t>
            </a:r>
            <a:r>
              <a:rPr sz="1400"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State</a:t>
            </a:r>
            <a:r>
              <a:rPr sz="1400" spc="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transition</a:t>
            </a:r>
            <a:r>
              <a:rPr sz="1400" spc="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testing</a:t>
            </a:r>
            <a:r>
              <a:rPr sz="14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efficiently</a:t>
            </a:r>
            <a:r>
              <a:rPr sz="14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on</a:t>
            </a:r>
            <a:r>
              <a:rPr sz="14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Arial MT"/>
                <a:cs typeface="Arial MT"/>
              </a:rPr>
              <a:t>complex</a:t>
            </a:r>
            <a:endParaRPr sz="14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systems,</a:t>
            </a:r>
            <a:r>
              <a:rPr sz="1400" spc="85" dirty="0">
                <a:solidFill>
                  <a:srgbClr val="232323"/>
                </a:solidFill>
                <a:latin typeface="Arial MT"/>
                <a:cs typeface="Arial MT"/>
              </a:rPr>
              <a:t> 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we</a:t>
            </a:r>
            <a:r>
              <a:rPr sz="1400" spc="75" dirty="0">
                <a:solidFill>
                  <a:srgbClr val="232323"/>
                </a:solidFill>
                <a:latin typeface="Arial MT"/>
                <a:cs typeface="Arial MT"/>
              </a:rPr>
              <a:t> 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take</a:t>
            </a:r>
            <a:r>
              <a:rPr sz="1400" spc="75" dirty="0">
                <a:solidFill>
                  <a:srgbClr val="232323"/>
                </a:solidFill>
                <a:latin typeface="Arial MT"/>
                <a:cs typeface="Arial MT"/>
              </a:rPr>
              <a:t> 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400" spc="70" dirty="0">
                <a:solidFill>
                  <a:srgbClr val="232323"/>
                </a:solidFill>
                <a:latin typeface="Arial MT"/>
                <a:cs typeface="Arial MT"/>
              </a:rPr>
              <a:t> 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help</a:t>
            </a:r>
            <a:r>
              <a:rPr sz="1400" spc="75" dirty="0">
                <a:solidFill>
                  <a:srgbClr val="232323"/>
                </a:solidFill>
                <a:latin typeface="Arial MT"/>
                <a:cs typeface="Arial MT"/>
              </a:rPr>
              <a:t> 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400" spc="90" dirty="0">
                <a:solidFill>
                  <a:srgbClr val="232323"/>
                </a:solidFill>
                <a:latin typeface="Arial MT"/>
                <a:cs typeface="Arial MT"/>
              </a:rPr>
              <a:t> 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400" spc="85" dirty="0">
                <a:solidFill>
                  <a:srgbClr val="232323"/>
                </a:solidFill>
                <a:latin typeface="Arial MT"/>
                <a:cs typeface="Arial MT"/>
              </a:rPr>
              <a:t> 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State</a:t>
            </a:r>
            <a:r>
              <a:rPr sz="1400" b="1" spc="75" dirty="0">
                <a:solidFill>
                  <a:srgbClr val="232323"/>
                </a:solidFill>
                <a:latin typeface="Arial"/>
                <a:cs typeface="Arial"/>
              </a:rPr>
              <a:t>  </a:t>
            </a:r>
            <a:r>
              <a:rPr sz="1400" b="1" spc="-10" dirty="0">
                <a:solidFill>
                  <a:srgbClr val="232323"/>
                </a:solidFill>
                <a:latin typeface="Arial"/>
                <a:cs typeface="Arial"/>
              </a:rPr>
              <a:t>transition</a:t>
            </a:r>
            <a:endParaRPr sz="14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844"/>
              </a:spcBef>
            </a:pP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diagram</a:t>
            </a:r>
            <a:r>
              <a:rPr sz="1400" b="1" spc="-2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or</a:t>
            </a:r>
            <a:r>
              <a:rPr sz="1400" b="1" spc="-6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State</a:t>
            </a:r>
            <a:r>
              <a:rPr sz="1400" b="1" spc="-3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transition</a:t>
            </a:r>
            <a:r>
              <a:rPr sz="1400" b="1" spc="-3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Arial"/>
                <a:cs typeface="Arial"/>
              </a:rPr>
              <a:t>table.</a:t>
            </a:r>
            <a:endParaRPr sz="1400">
              <a:latin typeface="Arial"/>
              <a:cs typeface="Arial"/>
            </a:endParaRPr>
          </a:p>
          <a:p>
            <a:pPr marL="343535" indent="-330835" algn="just">
              <a:lnSpc>
                <a:spcPct val="100000"/>
              </a:lnSpc>
              <a:spcBef>
                <a:spcPts val="840"/>
              </a:spcBef>
              <a:buChar char="•"/>
              <a:tabLst>
                <a:tab pos="343535" algn="l"/>
              </a:tabLst>
            </a:pP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400" spc="3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state</a:t>
            </a:r>
            <a:r>
              <a:rPr sz="1400" spc="3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transition</a:t>
            </a:r>
            <a:r>
              <a:rPr sz="1400" spc="3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Diagram</a:t>
            </a:r>
            <a:r>
              <a:rPr sz="1400" spc="3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or</a:t>
            </a:r>
            <a:r>
              <a:rPr sz="1400" spc="3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state</a:t>
            </a:r>
            <a:r>
              <a:rPr sz="1400" spc="3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transition</a:t>
            </a:r>
            <a:r>
              <a:rPr sz="1400" spc="3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Arial MT"/>
                <a:cs typeface="Arial MT"/>
              </a:rPr>
              <a:t>table</a:t>
            </a:r>
            <a:endParaRPr sz="14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mainly</a:t>
            </a:r>
            <a:r>
              <a:rPr sz="1400" spc="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represents</a:t>
            </a:r>
            <a:r>
              <a:rPr sz="1400" spc="1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400" spc="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relation</a:t>
            </a:r>
            <a:r>
              <a:rPr sz="1400" b="1" spc="1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between</a:t>
            </a:r>
            <a:r>
              <a:rPr sz="1400" b="1" spc="8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the</a:t>
            </a:r>
            <a:r>
              <a:rPr sz="1400" b="1" spc="1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change</a:t>
            </a:r>
            <a:r>
              <a:rPr sz="1400" b="1" spc="114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232323"/>
                </a:solidFill>
                <a:latin typeface="Arial"/>
                <a:cs typeface="Arial"/>
              </a:rPr>
              <a:t>in</a:t>
            </a:r>
            <a:endParaRPr sz="14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input</a:t>
            </a:r>
            <a:r>
              <a:rPr sz="1400" b="1" spc="-1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and</a:t>
            </a:r>
            <a:r>
              <a:rPr sz="1400" b="1" spc="-3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behavior</a:t>
            </a:r>
            <a:r>
              <a:rPr sz="1400" b="1" spc="5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of</a:t>
            </a:r>
            <a:r>
              <a:rPr sz="1400" b="1" spc="-5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32323"/>
                </a:solidFill>
                <a:latin typeface="Arial"/>
                <a:cs typeface="Arial"/>
              </a:rPr>
              <a:t>the</a:t>
            </a:r>
            <a:r>
              <a:rPr sz="1400" b="1" spc="-10" dirty="0">
                <a:solidFill>
                  <a:srgbClr val="232323"/>
                </a:solidFill>
                <a:latin typeface="Arial"/>
                <a:cs typeface="Arial"/>
              </a:rPr>
              <a:t> application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5726"/>
            <a:ext cx="50234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2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world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example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 where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State</a:t>
            </a:r>
            <a:r>
              <a:rPr sz="14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Transition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Testing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performed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ATM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machine.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221156"/>
            <a:ext cx="5023485" cy="2202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350" indent="-2292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Let’s understand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by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considering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example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mobile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verification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232323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b="1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Name:</a:t>
            </a:r>
            <a:r>
              <a:rPr sz="1400" b="1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verification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mobile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unlock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  <a:p>
            <a:pPr marL="241300" marR="5080" indent="-229235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Expected</a:t>
            </a:r>
            <a:r>
              <a:rPr sz="1400" b="1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Behavior:</a:t>
            </a:r>
            <a:r>
              <a:rPr sz="1400" b="1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 Phone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unlock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when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 user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enters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correct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otherwise,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it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will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display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incorrect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password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816" y="3506215"/>
            <a:ext cx="6953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message.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3843578"/>
            <a:ext cx="502221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Also,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3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consecutive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times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incorrect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entered,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device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will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go</a:t>
            </a:r>
            <a:r>
              <a:rPr sz="1400" spc="13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on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a</a:t>
            </a:r>
            <a:r>
              <a:rPr sz="1400" spc="13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cooling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period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for</a:t>
            </a:r>
            <a:r>
              <a:rPr sz="1400" spc="12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60</a:t>
            </a:r>
            <a:r>
              <a:rPr sz="1400" spc="14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sec</a:t>
            </a:r>
            <a:r>
              <a:rPr sz="1400" spc="14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to</a:t>
            </a:r>
            <a:r>
              <a:rPr sz="1400" spc="135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prevent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a</a:t>
            </a:r>
            <a:r>
              <a:rPr sz="1400" spc="155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brute</a:t>
            </a:r>
            <a:r>
              <a:rPr sz="1400" spc="-10" dirty="0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 	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force</a:t>
            </a:r>
            <a:r>
              <a:rPr sz="14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attack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  <a:hlinkClick r:id="rId3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558799"/>
            <a:ext cx="16484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232323"/>
                </a:solidFill>
                <a:latin typeface="Arial"/>
                <a:cs typeface="Arial"/>
              </a:rPr>
              <a:t>State</a:t>
            </a:r>
            <a:r>
              <a:rPr sz="1050" b="1" spc="-4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32323"/>
                </a:solidFill>
                <a:latin typeface="Arial"/>
                <a:cs typeface="Arial"/>
              </a:rPr>
              <a:t>Transition</a:t>
            </a:r>
            <a:r>
              <a:rPr sz="1050" b="1" spc="-4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232323"/>
                </a:solidFill>
                <a:latin typeface="Arial"/>
                <a:cs typeface="Arial"/>
              </a:rPr>
              <a:t>Diagram: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3519202"/>
            <a:ext cx="5023485" cy="162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95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4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4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state</a:t>
            </a:r>
            <a:r>
              <a:rPr sz="1400" spc="4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transition</a:t>
            </a:r>
            <a:r>
              <a:rPr sz="1400" spc="459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diagram,</a:t>
            </a:r>
            <a:r>
              <a:rPr sz="1400" spc="4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1400" spc="4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4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400" spc="459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enters</a:t>
            </a:r>
            <a:r>
              <a:rPr sz="1400" spc="4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4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correct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first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three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attempts,</a:t>
            </a:r>
            <a:r>
              <a:rPr sz="14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he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transferred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Device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unlock</a:t>
            </a:r>
            <a:r>
              <a:rPr sz="14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state,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but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he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enters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wrong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passcode,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he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moved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next</a:t>
            </a:r>
            <a:r>
              <a:rPr sz="1400" spc="2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try,</a:t>
            </a:r>
            <a:r>
              <a:rPr sz="1400" spc="2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2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1400" spc="2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he</a:t>
            </a:r>
            <a:r>
              <a:rPr sz="1400" spc="2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repeats</a:t>
            </a:r>
            <a:r>
              <a:rPr sz="1400" spc="2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2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same</a:t>
            </a:r>
            <a:r>
              <a:rPr sz="1400" spc="2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2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3</a:t>
            </a:r>
            <a:r>
              <a:rPr sz="1400" spc="2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consecutive</a:t>
            </a:r>
            <a:r>
              <a:rPr sz="1400" spc="2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times</a:t>
            </a:r>
            <a:r>
              <a:rPr sz="1400" spc="2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device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will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go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60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sec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freezing</a:t>
            </a:r>
            <a:r>
              <a:rPr sz="14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period.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2342" y="745489"/>
            <a:ext cx="5324857" cy="25768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601" y="563625"/>
            <a:ext cx="165671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State</a:t>
            </a:r>
            <a:r>
              <a:rPr sz="14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Transition</a:t>
            </a:r>
            <a:r>
              <a:rPr sz="14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Table: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1601" y="900353"/>
            <a:ext cx="5144770" cy="111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Similar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above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state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transition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diagram,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also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our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using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state transition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table.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b="1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state</a:t>
            </a:r>
            <a:r>
              <a:rPr sz="1400" b="1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transition</a:t>
            </a:r>
            <a:r>
              <a:rPr sz="1400" b="1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table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particular</a:t>
            </a:r>
            <a:r>
              <a:rPr sz="1400" b="1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example</a:t>
            </a:r>
            <a:r>
              <a:rPr sz="1400" b="1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1400" b="1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follows: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6409" y="2253360"/>
          <a:ext cx="5181600" cy="2280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1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States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Passcode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Incorrect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Passcode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1).Start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2.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2.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2).1st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try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5.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3.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3).2nd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try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5.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4.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4).3rd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try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5.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6.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5).Access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Grant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–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–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6).Cooling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Period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–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T w="9525">
                      <a:solidFill>
                        <a:srgbClr val="ECECEC"/>
                      </a:solidFill>
                      <a:prstDash val="solid"/>
                    </a:lnT>
                    <a:lnB w="9525">
                      <a:solidFill>
                        <a:srgbClr val="ECE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ECECE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26757" y="739216"/>
            <a:ext cx="1648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</a:rPr>
              <a:t>Use</a:t>
            </a:r>
            <a:r>
              <a:rPr sz="1800" spc="-3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Case</a:t>
            </a:r>
            <a:r>
              <a:rPr sz="1800" spc="-3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Testing:</a:t>
            </a:r>
            <a:endParaRPr sz="1800" dirty="0"/>
          </a:p>
        </p:txBody>
      </p:sp>
      <p:sp>
        <p:nvSpPr>
          <p:cNvPr id="6" name="object 6"/>
          <p:cNvSpPr txBox="1"/>
          <p:nvPr/>
        </p:nvSpPr>
        <p:spPr>
          <a:xfrm>
            <a:off x="6826757" y="972036"/>
            <a:ext cx="4894580" cy="5376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50100"/>
              </a:lnSpc>
              <a:spcBef>
                <a:spcPts val="95"/>
              </a:spcBef>
            </a:pP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1800" spc="8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800" spc="10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name</a:t>
            </a:r>
            <a:r>
              <a:rPr sz="1800" spc="10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suggests,</a:t>
            </a:r>
            <a:r>
              <a:rPr sz="1800" spc="10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800" spc="9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Use</a:t>
            </a:r>
            <a:r>
              <a:rPr sz="1800" spc="10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800" spc="10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testing,</a:t>
            </a:r>
            <a:r>
              <a:rPr sz="1800" spc="10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800" spc="-25" dirty="0">
                <a:solidFill>
                  <a:srgbClr val="232323"/>
                </a:solidFill>
                <a:latin typeface="Calibri"/>
                <a:cs typeface="Calibri"/>
              </a:rPr>
              <a:t>we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18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18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8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8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based</a:t>
            </a:r>
            <a:r>
              <a:rPr sz="18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8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8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use</a:t>
            </a:r>
            <a:r>
              <a:rPr sz="18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8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8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software</a:t>
            </a:r>
            <a:r>
              <a:rPr sz="18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8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application</a:t>
            </a:r>
            <a:r>
              <a:rPr sz="1800" spc="1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depending</a:t>
            </a:r>
            <a:r>
              <a:rPr sz="18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8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800" spc="1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business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logic</a:t>
            </a:r>
            <a:r>
              <a:rPr sz="18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and </a:t>
            </a:r>
            <a:r>
              <a:rPr sz="1800" spc="-20" dirty="0">
                <a:solidFill>
                  <a:srgbClr val="232323"/>
                </a:solidFill>
                <a:latin typeface="Calibri"/>
                <a:cs typeface="Calibri"/>
              </a:rPr>
              <a:t>end-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8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functionalities.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It</a:t>
            </a:r>
            <a:r>
              <a:rPr sz="1800" spc="4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800" spc="43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800" spc="4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black</a:t>
            </a:r>
            <a:r>
              <a:rPr sz="1800" spc="4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box</a:t>
            </a:r>
            <a:r>
              <a:rPr sz="1800" spc="43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r>
              <a:rPr sz="1800" spc="43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800" spc="4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that</a:t>
            </a:r>
            <a:r>
              <a:rPr sz="1800" spc="4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helps</a:t>
            </a:r>
            <a:r>
              <a:rPr sz="1800" spc="4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32323"/>
                </a:solidFill>
                <a:latin typeface="Calibri"/>
                <a:cs typeface="Calibri"/>
              </a:rPr>
              <a:t>us</a:t>
            </a:r>
            <a:endParaRPr sz="1800">
              <a:latin typeface="Calibri"/>
              <a:cs typeface="Calibri"/>
            </a:endParaRPr>
          </a:p>
          <a:p>
            <a:pPr marL="12700" marR="7620" algn="just">
              <a:lnSpc>
                <a:spcPct val="150000"/>
              </a:lnSpc>
            </a:pP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identify</a:t>
            </a:r>
            <a:r>
              <a:rPr sz="18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8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8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that</a:t>
            </a:r>
            <a:r>
              <a:rPr sz="18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constitute</a:t>
            </a:r>
            <a:r>
              <a:rPr sz="18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part</a:t>
            </a:r>
            <a:r>
              <a:rPr sz="18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8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8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whole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800" spc="43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800" spc="43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800" spc="43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transaction</a:t>
            </a:r>
            <a:r>
              <a:rPr sz="1800" spc="459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basis</a:t>
            </a:r>
            <a:r>
              <a:rPr sz="1800" spc="4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from</a:t>
            </a:r>
            <a:r>
              <a:rPr sz="1800" spc="4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beginning</a:t>
            </a:r>
            <a:r>
              <a:rPr sz="1800" spc="4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32323"/>
                </a:solidFill>
                <a:latin typeface="Calibri"/>
                <a:cs typeface="Calibri"/>
              </a:rPr>
              <a:t>to </a:t>
            </a:r>
            <a:r>
              <a:rPr sz="1800" spc="-20" dirty="0">
                <a:solidFill>
                  <a:srgbClr val="232323"/>
                </a:solidFill>
                <a:latin typeface="Calibri"/>
                <a:cs typeface="Calibri"/>
              </a:rPr>
              <a:t>end.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800" spc="3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use</a:t>
            </a:r>
            <a:r>
              <a:rPr sz="1800" spc="3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800" spc="3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r>
              <a:rPr sz="1800" spc="3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800" spc="3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serves</a:t>
            </a:r>
            <a:r>
              <a:rPr sz="1800" spc="3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800" spc="3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following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objective: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spcBef>
                <a:spcPts val="108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Manages</a:t>
            </a:r>
            <a:r>
              <a:rPr sz="18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scope</a:t>
            </a:r>
            <a:r>
              <a:rPr sz="18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conditions</a:t>
            </a:r>
            <a:r>
              <a:rPr sz="18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related</a:t>
            </a:r>
            <a:r>
              <a:rPr sz="18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8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8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project.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spcBef>
                <a:spcPts val="10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Depicts</a:t>
            </a:r>
            <a:r>
              <a:rPr sz="18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different</a:t>
            </a:r>
            <a:r>
              <a:rPr sz="18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manners</a:t>
            </a:r>
            <a:r>
              <a:rPr sz="1800" spc="2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by</a:t>
            </a:r>
            <a:r>
              <a:rPr sz="18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which</a:t>
            </a:r>
            <a:r>
              <a:rPr sz="18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any</a:t>
            </a:r>
            <a:r>
              <a:rPr sz="1800" spc="1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800" spc="1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32323"/>
                </a:solidFill>
                <a:latin typeface="Calibri"/>
                <a:cs typeface="Calibri"/>
              </a:rPr>
              <a:t>may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interact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 with</a:t>
            </a:r>
            <a:r>
              <a:rPr sz="18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8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18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software.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7263" y="563625"/>
            <a:ext cx="27285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Visualizes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architecture.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63" y="1008633"/>
            <a:ext cx="4338320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Permits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assess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potential</a:t>
            </a:r>
            <a:r>
              <a:rPr sz="14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risks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reliance.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232323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  <a:tab pos="1511935" algn="l"/>
                <a:tab pos="2320290" algn="l"/>
                <a:tab pos="3167380" algn="l"/>
                <a:tab pos="4155440" algn="l"/>
              </a:tabLst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Communicates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complex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technical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necessities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stakeholders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easily.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8160" y="1457070"/>
            <a:ext cx="6178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relevant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263" y="2117140"/>
            <a:ext cx="5109210" cy="296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Let’s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understand</a:t>
            </a:r>
            <a:r>
              <a:rPr sz="1400" spc="4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4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</a:t>
            </a:r>
            <a:r>
              <a:rPr sz="1400" spc="4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</a:t>
            </a:r>
            <a:r>
              <a:rPr sz="1400" spc="4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testing</a:t>
            </a:r>
            <a:r>
              <a:rPr sz="1400" spc="4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technique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using</a:t>
            </a:r>
            <a:r>
              <a:rPr sz="1400" spc="4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1400" spc="4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last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example</a:t>
            </a:r>
            <a:r>
              <a:rPr sz="1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mobile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verification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  <a:p>
            <a:pPr marL="12700" marR="5715">
              <a:lnSpc>
                <a:spcPct val="150100"/>
              </a:lnSpc>
              <a:spcBef>
                <a:spcPts val="98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Before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moving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14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case,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let’s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first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assess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cases</a:t>
            </a:r>
            <a:r>
              <a:rPr sz="14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for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particular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4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user.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may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unlock</a:t>
            </a:r>
            <a:r>
              <a:rPr sz="1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device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his/her first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try.</a:t>
            </a:r>
            <a:endParaRPr sz="1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Someone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may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attempt</a:t>
            </a:r>
            <a:r>
              <a:rPr sz="14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unlock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user’s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device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with</a:t>
            </a:r>
            <a:r>
              <a:rPr sz="14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wrong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three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consecutive times.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Provide</a:t>
            </a:r>
            <a:r>
              <a:rPr sz="14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cooling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period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such 	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situation</a:t>
            </a:r>
            <a:r>
              <a:rPr sz="14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avoid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brute-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force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attacks.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535561"/>
            <a:ext cx="5024120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device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must</a:t>
            </a:r>
            <a:r>
              <a:rPr sz="1400" b="1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not</a:t>
            </a:r>
            <a:r>
              <a:rPr sz="1400" b="1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32323"/>
                </a:solidFill>
                <a:latin typeface="Calibri"/>
                <a:cs typeface="Calibri"/>
              </a:rPr>
              <a:t>accept</a:t>
            </a:r>
            <a:r>
              <a:rPr sz="1400" b="1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passcode</a:t>
            </a:r>
            <a:r>
              <a:rPr sz="140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when</a:t>
            </a:r>
            <a:r>
              <a:rPr sz="140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cooling</a:t>
            </a:r>
            <a:r>
              <a:rPr sz="140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period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active.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1301927"/>
            <a:ext cx="50228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user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should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be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able</a:t>
            </a:r>
            <a:r>
              <a:rPr sz="140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40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unlock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device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after</a:t>
            </a:r>
            <a:r>
              <a:rPr sz="140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expiry</a:t>
            </a:r>
            <a:r>
              <a:rPr sz="140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of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cooling</a:t>
            </a:r>
            <a:r>
              <a:rPr sz="1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period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by</a:t>
            </a:r>
            <a:r>
              <a:rPr sz="1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entering</a:t>
            </a:r>
            <a:r>
              <a:rPr sz="14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correct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2323"/>
                </a:solidFill>
                <a:latin typeface="Calibri"/>
                <a:cs typeface="Calibri"/>
              </a:rPr>
              <a:t>passcode.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3625"/>
            <a:ext cx="13481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What</a:t>
            </a:r>
            <a:r>
              <a:rPr sz="1400" b="1" spc="-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is</a:t>
            </a:r>
            <a:r>
              <a:rPr sz="1400" b="1" spc="-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test</a:t>
            </a:r>
            <a:r>
              <a:rPr sz="1400" b="1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1C1C1C"/>
                </a:solidFill>
                <a:latin typeface="Calibri"/>
                <a:cs typeface="Calibri"/>
              </a:rPr>
              <a:t>case?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008633"/>
            <a:ext cx="41744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40" dirty="0">
                <a:solidFill>
                  <a:srgbClr val="1C1C1C"/>
                </a:solidFill>
                <a:latin typeface="Calibri"/>
                <a:cs typeface="Calibri"/>
              </a:rPr>
              <a:t>Test</a:t>
            </a:r>
            <a:r>
              <a:rPr sz="14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cases</a:t>
            </a:r>
            <a:r>
              <a:rPr sz="1400" spc="-6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are</a:t>
            </a:r>
            <a:r>
              <a:rPr sz="1400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an</a:t>
            </a:r>
            <a:r>
              <a:rPr sz="1400" spc="-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important</a:t>
            </a:r>
            <a:r>
              <a:rPr sz="1400" spc="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aspect</a:t>
            </a:r>
            <a:r>
              <a:rPr sz="1400" spc="-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of</a:t>
            </a:r>
            <a:r>
              <a:rPr sz="1400" spc="-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software</a:t>
            </a:r>
            <a:r>
              <a:rPr sz="1400" spc="-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testing.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349661"/>
            <a:ext cx="5022215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  <a:tab pos="279400" algn="l"/>
              </a:tabLst>
            </a:pP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	They</a:t>
            </a:r>
            <a:r>
              <a:rPr sz="1400" spc="9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are</a:t>
            </a:r>
            <a:r>
              <a:rPr sz="1400" spc="1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designed</a:t>
            </a:r>
            <a:r>
              <a:rPr sz="1400" spc="1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1400" spc="1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verify</a:t>
            </a:r>
            <a:r>
              <a:rPr sz="1400" spc="1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functionality</a:t>
            </a:r>
            <a:r>
              <a:rPr sz="1400" spc="7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and</a:t>
            </a:r>
            <a:r>
              <a:rPr sz="1400" spc="1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reliability</a:t>
            </a:r>
            <a:r>
              <a:rPr sz="1400" spc="1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of</a:t>
            </a:r>
            <a:r>
              <a:rPr sz="1400" spc="1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1C1C1C"/>
                </a:solidFill>
                <a:latin typeface="Calibri"/>
                <a:cs typeface="Calibri"/>
              </a:rPr>
              <a:t>a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software</a:t>
            </a:r>
            <a:r>
              <a:rPr sz="1400" spc="-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system</a:t>
            </a:r>
            <a:r>
              <a:rPr sz="1400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by</a:t>
            </a:r>
            <a:r>
              <a:rPr sz="1400" spc="-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outlining</a:t>
            </a:r>
            <a:r>
              <a:rPr sz="14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specific</a:t>
            </a:r>
            <a:r>
              <a:rPr sz="1400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steps</a:t>
            </a:r>
            <a:r>
              <a:rPr sz="1400" spc="-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be</a:t>
            </a:r>
            <a:r>
              <a:rPr sz="1400" spc="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taken,</a:t>
            </a:r>
            <a:r>
              <a:rPr sz="1400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input</a:t>
            </a:r>
            <a:r>
              <a:rPr sz="1400" spc="-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C1C1C"/>
                </a:solidFill>
                <a:latin typeface="Calibri"/>
                <a:cs typeface="Calibri"/>
              </a:rPr>
              <a:t>data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be</a:t>
            </a:r>
            <a:r>
              <a:rPr sz="1400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used,</a:t>
            </a:r>
            <a:r>
              <a:rPr sz="14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expected outcomes.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2437943"/>
            <a:ext cx="502158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purpose</a:t>
            </a:r>
            <a:r>
              <a:rPr sz="1400" b="1" spc="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of</a:t>
            </a:r>
            <a:r>
              <a:rPr sz="1400" spc="9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test</a:t>
            </a:r>
            <a:r>
              <a:rPr sz="1400" spc="7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cases</a:t>
            </a:r>
            <a:r>
              <a:rPr sz="1400" spc="1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is</a:t>
            </a:r>
            <a:r>
              <a:rPr sz="1400" spc="9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1400" spc="9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determine</a:t>
            </a:r>
            <a:r>
              <a:rPr sz="1400" spc="1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whether</a:t>
            </a:r>
            <a:r>
              <a:rPr sz="1400" spc="1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software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behaves</a:t>
            </a:r>
            <a:r>
              <a:rPr sz="1400" b="1" spc="-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as</a:t>
            </a:r>
            <a:r>
              <a:rPr sz="1400" spc="-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intended</a:t>
            </a:r>
            <a:r>
              <a:rPr sz="1400" spc="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under</a:t>
            </a:r>
            <a:r>
              <a:rPr sz="1400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various</a:t>
            </a:r>
            <a:r>
              <a:rPr sz="1400" b="1" spc="-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scenarios</a:t>
            </a:r>
            <a:r>
              <a:rPr sz="1400" b="1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and</a:t>
            </a:r>
            <a:r>
              <a:rPr sz="1400" b="1" spc="-7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C1C1C"/>
                </a:solidFill>
                <a:latin typeface="Calibri"/>
                <a:cs typeface="Calibri"/>
              </a:rPr>
              <a:t>conditions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3203245"/>
            <a:ext cx="502348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Test</a:t>
            </a:r>
            <a:r>
              <a:rPr sz="1400" spc="4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cases</a:t>
            </a:r>
            <a:r>
              <a:rPr sz="1400" spc="95" dirty="0">
                <a:solidFill>
                  <a:srgbClr val="1C1C1C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are</a:t>
            </a:r>
            <a:r>
              <a:rPr sz="1400" spc="105" dirty="0">
                <a:solidFill>
                  <a:srgbClr val="1C1C1C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typically</a:t>
            </a:r>
            <a:r>
              <a:rPr sz="1400" spc="105" dirty="0">
                <a:solidFill>
                  <a:srgbClr val="1C1C1C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documented</a:t>
            </a:r>
            <a:r>
              <a:rPr sz="1400" spc="100" dirty="0">
                <a:solidFill>
                  <a:srgbClr val="1C1C1C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in</a:t>
            </a:r>
            <a:r>
              <a:rPr sz="1400" spc="49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</a:t>
            </a:r>
            <a:r>
              <a:rPr sz="1400" spc="100" dirty="0">
                <a:solidFill>
                  <a:srgbClr val="1C1C1C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dedicated</a:t>
            </a:r>
            <a:r>
              <a:rPr sz="1400" spc="114" dirty="0">
                <a:solidFill>
                  <a:srgbClr val="1C1C1C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testing 	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document</a:t>
            </a:r>
            <a:r>
              <a:rPr sz="1400" spc="1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(such</a:t>
            </a:r>
            <a:r>
              <a:rPr sz="1400" spc="19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as</a:t>
            </a:r>
            <a:r>
              <a:rPr sz="1400" spc="19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Google</a:t>
            </a:r>
            <a:r>
              <a:rPr sz="1400" spc="2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Sheets,</a:t>
            </a:r>
            <a:r>
              <a:rPr sz="1400" spc="1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or</a:t>
            </a:r>
            <a:r>
              <a:rPr sz="1400" spc="2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text</a:t>
            </a:r>
            <a:r>
              <a:rPr sz="1400" spc="2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document)</a:t>
            </a:r>
            <a:r>
              <a:rPr sz="1400" spc="204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or</a:t>
            </a:r>
            <a:r>
              <a:rPr sz="1400" spc="18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a</a:t>
            </a:r>
            <a:r>
              <a:rPr sz="1400" spc="2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C1C1C"/>
                </a:solidFill>
                <a:latin typeface="Calibri"/>
                <a:cs typeface="Calibri"/>
              </a:rPr>
              <a:t>test 	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case</a:t>
            </a:r>
            <a:r>
              <a:rPr sz="1400" spc="-6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management</a:t>
            </a:r>
            <a:r>
              <a:rPr sz="1400" spc="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tool </a:t>
            </a:r>
            <a:r>
              <a:rPr sz="1400" spc="-20" dirty="0">
                <a:solidFill>
                  <a:srgbClr val="1C1C1C"/>
                </a:solidFill>
                <a:latin typeface="Calibri"/>
                <a:cs typeface="Calibri"/>
              </a:rPr>
              <a:t>(</a:t>
            </a:r>
            <a:r>
              <a:rPr sz="1400" b="1" spc="-20" dirty="0">
                <a:solidFill>
                  <a:srgbClr val="1C1C1C"/>
                </a:solidFill>
                <a:latin typeface="Calibri"/>
                <a:cs typeface="Calibri"/>
              </a:rPr>
              <a:t>TestRail, </a:t>
            </a:r>
            <a:r>
              <a:rPr sz="1400" b="1" spc="-25" dirty="0">
                <a:solidFill>
                  <a:srgbClr val="1C1C1C"/>
                </a:solidFill>
                <a:latin typeface="Calibri"/>
                <a:cs typeface="Calibri"/>
              </a:rPr>
              <a:t>Zephyr,</a:t>
            </a:r>
            <a:r>
              <a:rPr sz="1400" b="1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1C1C1C"/>
                </a:solidFill>
                <a:latin typeface="Calibri"/>
                <a:cs typeface="Calibri"/>
              </a:rPr>
              <a:t>qTest,</a:t>
            </a:r>
            <a:r>
              <a:rPr sz="1400" b="1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C1C1C"/>
                </a:solidFill>
                <a:latin typeface="Calibri"/>
                <a:cs typeface="Calibri"/>
              </a:rPr>
              <a:t>and</a:t>
            </a:r>
            <a:r>
              <a:rPr sz="1400" b="1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C1C1C"/>
                </a:solidFill>
                <a:latin typeface="Calibri"/>
                <a:cs typeface="Calibri"/>
              </a:rPr>
              <a:t>PractiTest</a:t>
            </a:r>
            <a:r>
              <a:rPr sz="1400" spc="-10" dirty="0">
                <a:solidFill>
                  <a:srgbClr val="1C1C1C"/>
                </a:solidFill>
                <a:latin typeface="Calibri"/>
                <a:cs typeface="Calibri"/>
              </a:rPr>
              <a:t>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3495" y="643839"/>
            <a:ext cx="259397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Arial"/>
                <a:cs typeface="Arial"/>
              </a:rPr>
              <a:t>What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Test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Case </a:t>
            </a:r>
            <a:r>
              <a:rPr sz="1400" b="1" spc="-10" dirty="0">
                <a:latin typeface="Arial"/>
                <a:cs typeface="Arial"/>
              </a:rPr>
              <a:t>Template?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3495" y="933228"/>
            <a:ext cx="5128895" cy="258635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935"/>
              </a:spcBef>
              <a:buChar char="•"/>
              <a:tabLst>
                <a:tab pos="240029" algn="l"/>
              </a:tabLst>
            </a:pP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case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template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predefined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structure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provides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  <a:p>
            <a:pPr marL="241300" algn="just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 MT"/>
                <a:cs typeface="Arial MT"/>
              </a:rPr>
              <a:t>standardized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way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document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create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cases.</a:t>
            </a:r>
            <a:endParaRPr sz="1400">
              <a:latin typeface="Arial MT"/>
              <a:cs typeface="Arial MT"/>
            </a:endParaRPr>
          </a:p>
          <a:p>
            <a:pPr marL="240029" marR="6985" indent="-227329" algn="just">
              <a:lnSpc>
                <a:spcPct val="1501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1400" dirty="0">
                <a:latin typeface="Arial MT"/>
                <a:cs typeface="Arial MT"/>
              </a:rPr>
              <a:t>We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have</a:t>
            </a:r>
            <a:r>
              <a:rPr sz="1400" spc="2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provided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them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guidelines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testers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ensure 	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13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14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necessary</a:t>
            </a:r>
            <a:r>
              <a:rPr sz="1400" spc="114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information</a:t>
            </a:r>
            <a:r>
              <a:rPr sz="1400" spc="13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about</a:t>
            </a:r>
            <a:r>
              <a:rPr sz="1400" spc="13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3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test</a:t>
            </a:r>
            <a:r>
              <a:rPr sz="1400" spc="13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scenario</a:t>
            </a:r>
            <a:r>
              <a:rPr sz="1400" spc="135" dirty="0">
                <a:latin typeface="Arial MT"/>
                <a:cs typeface="Arial MT"/>
              </a:rPr>
              <a:t>  </a:t>
            </a:r>
            <a:r>
              <a:rPr sz="1400" spc="-25" dirty="0">
                <a:latin typeface="Arial MT"/>
                <a:cs typeface="Arial MT"/>
              </a:rPr>
              <a:t>is 	</a:t>
            </a:r>
            <a:r>
              <a:rPr sz="1400" dirty="0">
                <a:latin typeface="Arial MT"/>
                <a:cs typeface="Arial MT"/>
              </a:rPr>
              <a:t>captured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consistently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across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different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cases.</a:t>
            </a:r>
            <a:endParaRPr sz="1400">
              <a:latin typeface="Arial MT"/>
              <a:cs typeface="Arial MT"/>
            </a:endParaRPr>
          </a:p>
          <a:p>
            <a:pPr marL="240029" indent="-227329" algn="just">
              <a:lnSpc>
                <a:spcPct val="100000"/>
              </a:lnSpc>
              <a:spcBef>
                <a:spcPts val="840"/>
              </a:spcBef>
              <a:buChar char="•"/>
              <a:tabLst>
                <a:tab pos="240029" algn="l"/>
              </a:tabLst>
            </a:pP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good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case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template,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testing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teams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maintain</a:t>
            </a:r>
            <a:endParaRPr sz="1400">
              <a:latin typeface="Arial MT"/>
              <a:cs typeface="Arial MT"/>
            </a:endParaRPr>
          </a:p>
          <a:p>
            <a:pPr marL="241300" algn="just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latin typeface="Arial"/>
                <a:cs typeface="Arial"/>
              </a:rPr>
              <a:t>uniformity</a:t>
            </a:r>
            <a:r>
              <a:rPr sz="1400" b="1" spc="17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2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improve</a:t>
            </a:r>
            <a:r>
              <a:rPr sz="1400" b="1" spc="2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2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clarity</a:t>
            </a:r>
            <a:r>
              <a:rPr sz="1400" b="1" spc="2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2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completeness</a:t>
            </a:r>
            <a:r>
              <a:rPr sz="1400" b="1" spc="220" dirty="0">
                <a:latin typeface="Arial"/>
                <a:cs typeface="Arial"/>
              </a:rPr>
              <a:t> </a:t>
            </a:r>
            <a:r>
              <a:rPr sz="1400" spc="-25" dirty="0">
                <a:latin typeface="Arial MT"/>
                <a:cs typeface="Arial MT"/>
              </a:rPr>
              <a:t>of</a:t>
            </a:r>
            <a:endParaRPr sz="1400">
              <a:latin typeface="Arial MT"/>
              <a:cs typeface="Arial MT"/>
            </a:endParaRPr>
          </a:p>
          <a:p>
            <a:pPr marL="241300" algn="just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 MT"/>
                <a:cs typeface="Arial MT"/>
              </a:rPr>
              <a:t>their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documentation.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2176" y="3700271"/>
            <a:ext cx="4611624" cy="24780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57529"/>
            <a:ext cx="15538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latin typeface="Calibri"/>
                <a:cs typeface="Calibri"/>
              </a:rPr>
              <a:t>Test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Case</a:t>
            </a:r>
            <a:r>
              <a:rPr sz="1300" b="1" spc="-5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Components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833907"/>
            <a:ext cx="5023485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400"/>
              </a:lnSpc>
              <a:spcBef>
                <a:spcPts val="100"/>
              </a:spcBef>
            </a:pPr>
            <a:r>
              <a:rPr sz="1300" dirty="0">
                <a:latin typeface="Calibri"/>
                <a:cs typeface="Calibri"/>
              </a:rPr>
              <a:t>No</a:t>
            </a:r>
            <a:r>
              <a:rPr sz="1300" spc="2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matter</a:t>
            </a:r>
            <a:r>
              <a:rPr sz="1300" spc="3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what</a:t>
            </a:r>
            <a:r>
              <a:rPr sz="1300" spc="3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method</a:t>
            </a:r>
            <a:r>
              <a:rPr sz="1300" spc="3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3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document</a:t>
            </a:r>
            <a:r>
              <a:rPr sz="1300" spc="3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3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3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</a:t>
            </a:r>
            <a:r>
              <a:rPr sz="1300" spc="3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was</a:t>
            </a:r>
            <a:r>
              <a:rPr sz="1300" spc="3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chosen,</a:t>
            </a:r>
            <a:r>
              <a:rPr sz="1300" spc="29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we </a:t>
            </a:r>
            <a:r>
              <a:rPr sz="1300" dirty="0">
                <a:latin typeface="Calibri"/>
                <a:cs typeface="Calibri"/>
              </a:rPr>
              <a:t>should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include 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following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fields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case: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latin typeface="Calibri"/>
                <a:cs typeface="Calibri"/>
              </a:rPr>
              <a:t>1.</a:t>
            </a:r>
            <a:r>
              <a:rPr sz="1300" b="1" spc="430" dirty="0">
                <a:latin typeface="Calibri"/>
                <a:cs typeface="Calibri"/>
              </a:rPr>
              <a:t> </a:t>
            </a:r>
            <a:r>
              <a:rPr sz="1300" b="1" spc="-25" dirty="0">
                <a:latin typeface="Calibri"/>
                <a:cs typeface="Calibri"/>
              </a:rPr>
              <a:t>Test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Case</a:t>
            </a:r>
            <a:r>
              <a:rPr sz="1300" b="1" spc="-6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ID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unique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identifier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case.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975366"/>
            <a:ext cx="5022850" cy="62293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dirty="0">
                <a:latin typeface="Calibri"/>
                <a:cs typeface="Calibri"/>
              </a:rPr>
              <a:t>2.</a:t>
            </a:r>
            <a:r>
              <a:rPr sz="1300" b="1" spc="47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Title/Description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2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2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concise</a:t>
            </a:r>
            <a:r>
              <a:rPr sz="1300" spc="2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description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2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2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purpose</a:t>
            </a:r>
            <a:r>
              <a:rPr sz="1300" spc="3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2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30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test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1300" spc="-10" dirty="0">
                <a:latin typeface="Calibri"/>
                <a:cs typeface="Calibri"/>
              </a:rPr>
              <a:t>case.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2798825"/>
            <a:ext cx="40157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Calibri"/>
                <a:cs typeface="Calibri"/>
              </a:rPr>
              <a:t>3.</a:t>
            </a:r>
            <a:r>
              <a:rPr sz="1300" b="1" spc="409" dirty="0">
                <a:latin typeface="Calibri"/>
                <a:cs typeface="Calibri"/>
              </a:rPr>
              <a:t> </a:t>
            </a:r>
            <a:r>
              <a:rPr sz="1300" b="1" spc="-25" dirty="0">
                <a:latin typeface="Calibri"/>
                <a:cs typeface="Calibri"/>
              </a:rPr>
              <a:t>Test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Objective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specific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goal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objective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test.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3121558"/>
            <a:ext cx="5022215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800"/>
              </a:lnSpc>
              <a:spcBef>
                <a:spcPts val="100"/>
              </a:spcBef>
            </a:pPr>
            <a:r>
              <a:rPr sz="1300" b="1" dirty="0">
                <a:latin typeface="Calibri"/>
                <a:cs typeface="Calibri"/>
              </a:rPr>
              <a:t>4.</a:t>
            </a:r>
            <a:r>
              <a:rPr sz="1300" b="1" spc="4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Preconditions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Any</a:t>
            </a:r>
            <a:r>
              <a:rPr sz="1300" spc="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necessary</a:t>
            </a:r>
            <a:r>
              <a:rPr sz="1300" spc="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conditions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must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met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before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executed.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912" y="3847236"/>
            <a:ext cx="5022215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49200"/>
              </a:lnSpc>
              <a:spcBef>
                <a:spcPts val="100"/>
              </a:spcBef>
            </a:pPr>
            <a:r>
              <a:rPr sz="1300" b="1" dirty="0">
                <a:latin typeface="Calibri"/>
                <a:cs typeface="Calibri"/>
              </a:rPr>
              <a:t>5.</a:t>
            </a:r>
            <a:r>
              <a:rPr sz="1300" b="1" spc="459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Test</a:t>
            </a:r>
            <a:r>
              <a:rPr sz="1300" b="1" spc="8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Steps:</a:t>
            </a:r>
            <a:r>
              <a:rPr sz="1300" b="1" spc="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7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step-by-</a:t>
            </a:r>
            <a:r>
              <a:rPr sz="1300" dirty="0">
                <a:latin typeface="Calibri"/>
                <a:cs typeface="Calibri"/>
              </a:rPr>
              <a:t>step</a:t>
            </a:r>
            <a:r>
              <a:rPr sz="1300" spc="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sequence</a:t>
            </a:r>
            <a:r>
              <a:rPr sz="1300" spc="1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actions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perform</a:t>
            </a:r>
            <a:r>
              <a:rPr sz="1300" spc="1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during</a:t>
            </a:r>
            <a:r>
              <a:rPr sz="1300" spc="9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test.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912" y="4480305"/>
            <a:ext cx="10392410" cy="1493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572125">
              <a:lnSpc>
                <a:spcPts val="158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14.</a:t>
            </a:r>
            <a:r>
              <a:rPr sz="1400" b="1" spc="490" dirty="0">
                <a:latin typeface="Calibri"/>
                <a:cs typeface="Calibri"/>
              </a:rPr>
              <a:t> </a:t>
            </a:r>
            <a:r>
              <a:rPr sz="1400" b="1" spc="-35" dirty="0">
                <a:latin typeface="Calibri"/>
                <a:cs typeface="Calibri"/>
              </a:rPr>
              <a:t>Test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Verdict</a:t>
            </a:r>
            <a:r>
              <a:rPr sz="1400" spc="-10" dirty="0">
                <a:latin typeface="Calibri"/>
                <a:cs typeface="Calibri"/>
              </a:rPr>
              <a:t>: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judgment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about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overall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success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test.</a:t>
            </a:r>
            <a:endParaRPr sz="1400">
              <a:latin typeface="Calibri"/>
              <a:cs typeface="Calibri"/>
            </a:endParaRPr>
          </a:p>
          <a:p>
            <a:pPr marL="243204" indent="-230504">
              <a:lnSpc>
                <a:spcPts val="1460"/>
              </a:lnSpc>
              <a:buAutoNum type="arabicPeriod" startAt="6"/>
              <a:tabLst>
                <a:tab pos="243204" algn="l"/>
              </a:tabLst>
            </a:pPr>
            <a:r>
              <a:rPr sz="1300" b="1" dirty="0">
                <a:latin typeface="Calibri"/>
                <a:cs typeface="Calibri"/>
              </a:rPr>
              <a:t>Input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Data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data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parameters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input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test.</a:t>
            </a:r>
            <a:endParaRPr sz="13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75"/>
              </a:spcBef>
              <a:buAutoNum type="arabicPeriod" startAt="6"/>
              <a:tabLst>
                <a:tab pos="240665" algn="l"/>
              </a:tabLst>
            </a:pPr>
            <a:r>
              <a:rPr sz="1300" b="1" dirty="0">
                <a:latin typeface="Arial"/>
                <a:cs typeface="Arial"/>
              </a:rPr>
              <a:t>Expected</a:t>
            </a:r>
            <a:r>
              <a:rPr sz="1300" b="1" spc="2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Results</a:t>
            </a:r>
            <a:r>
              <a:rPr sz="1300" dirty="0">
                <a:latin typeface="Arial MT"/>
                <a:cs typeface="Arial MT"/>
              </a:rPr>
              <a:t>: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anticipated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outcomes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behaviors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after</a:t>
            </a:r>
            <a:endParaRPr sz="13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executing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test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steps.</a:t>
            </a:r>
            <a:endParaRPr sz="13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AutoNum type="arabicPeriod" startAt="8"/>
              <a:tabLst>
                <a:tab pos="240665" algn="l"/>
              </a:tabLst>
            </a:pPr>
            <a:r>
              <a:rPr sz="1300" b="1" dirty="0">
                <a:latin typeface="Arial"/>
                <a:cs typeface="Arial"/>
              </a:rPr>
              <a:t>Actual</a:t>
            </a:r>
            <a:r>
              <a:rPr sz="1300" b="1" spc="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Results</a:t>
            </a:r>
            <a:r>
              <a:rPr sz="1300" dirty="0">
                <a:latin typeface="Arial MT"/>
                <a:cs typeface="Arial MT"/>
              </a:rPr>
              <a:t>: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actual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outcomes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observed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when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executing</a:t>
            </a:r>
            <a:endParaRPr sz="13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the</a:t>
            </a:r>
            <a:r>
              <a:rPr sz="1300" spc="-10" dirty="0">
                <a:latin typeface="Arial MT"/>
                <a:cs typeface="Arial MT"/>
              </a:rPr>
              <a:t> test.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2464" y="535561"/>
            <a:ext cx="502348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  <a:tabLst>
                <a:tab pos="356870" algn="l"/>
                <a:tab pos="802005" algn="l"/>
                <a:tab pos="1951355" algn="l"/>
                <a:tab pos="2597785" algn="l"/>
                <a:tab pos="3180080" algn="l"/>
                <a:tab pos="3576320" algn="l"/>
                <a:tab pos="4277995" algn="l"/>
              </a:tabLst>
            </a:pPr>
            <a:r>
              <a:rPr sz="1400" b="1" spc="-25" dirty="0">
                <a:latin typeface="Calibri"/>
                <a:cs typeface="Calibri"/>
              </a:rPr>
              <a:t>9.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-20" dirty="0">
                <a:latin typeface="Calibri"/>
                <a:cs typeface="Calibri"/>
              </a:rPr>
              <a:t>Test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-10" dirty="0">
                <a:latin typeface="Calibri"/>
                <a:cs typeface="Calibri"/>
              </a:rPr>
              <a:t>Environment</a:t>
            </a:r>
            <a:r>
              <a:rPr sz="1400" spc="-10" dirty="0">
                <a:latin typeface="Calibri"/>
                <a:cs typeface="Calibri"/>
              </a:rPr>
              <a:t>: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10" dirty="0">
                <a:latin typeface="Calibri"/>
                <a:cs typeface="Calibri"/>
              </a:rPr>
              <a:t>Details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about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5" dirty="0">
                <a:latin typeface="Calibri"/>
                <a:cs typeface="Calibri"/>
              </a:rPr>
              <a:t>the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10" dirty="0">
                <a:latin typeface="Calibri"/>
                <a:cs typeface="Calibri"/>
              </a:rPr>
              <a:t>system,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10" dirty="0">
                <a:latin typeface="Calibri"/>
                <a:cs typeface="Calibri"/>
              </a:rPr>
              <a:t>hardware,</a:t>
            </a:r>
            <a:endParaRPr sz="14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alibri"/>
                <a:cs typeface="Calibri"/>
              </a:rPr>
              <a:t>software,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configurations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2464" y="1301927"/>
            <a:ext cx="50222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10.</a:t>
            </a:r>
            <a:r>
              <a:rPr sz="1400" b="1" spc="110" dirty="0">
                <a:latin typeface="Calibri"/>
                <a:cs typeface="Calibri"/>
              </a:rPr>
              <a:t>  </a:t>
            </a:r>
            <a:r>
              <a:rPr sz="1400" b="1" dirty="0">
                <a:latin typeface="Calibri"/>
                <a:cs typeface="Calibri"/>
              </a:rPr>
              <a:t>Test</a:t>
            </a:r>
            <a:r>
              <a:rPr sz="1400" b="1" spc="434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Data</a:t>
            </a:r>
            <a:r>
              <a:rPr sz="1400" b="1" spc="4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Preparation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4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Instructions</a:t>
            </a:r>
            <a:r>
              <a:rPr sz="1400" spc="4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4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how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4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set</a:t>
            </a:r>
            <a:r>
              <a:rPr sz="1400" spc="4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up</a:t>
            </a:r>
            <a:r>
              <a:rPr sz="1400" spc="4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required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2464" y="2070277"/>
            <a:ext cx="50247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11.</a:t>
            </a:r>
            <a:r>
              <a:rPr sz="1400" b="1" spc="100" dirty="0">
                <a:latin typeface="Calibri"/>
                <a:cs typeface="Calibri"/>
              </a:rPr>
              <a:t>  </a:t>
            </a:r>
            <a:r>
              <a:rPr sz="1400" b="1" dirty="0">
                <a:latin typeface="Calibri"/>
                <a:cs typeface="Calibri"/>
              </a:rPr>
              <a:t>Test</a:t>
            </a:r>
            <a:r>
              <a:rPr sz="1400" b="1" spc="29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Execution</a:t>
            </a:r>
            <a:r>
              <a:rPr sz="1400" b="1" spc="29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Date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3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date</a:t>
            </a:r>
            <a:r>
              <a:rPr sz="1400" spc="2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3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3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3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2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was </a:t>
            </a:r>
            <a:r>
              <a:rPr sz="1400" spc="-10" dirty="0">
                <a:latin typeface="Calibri"/>
                <a:cs typeface="Calibri"/>
              </a:rPr>
              <a:t>executed.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2464" y="2839244"/>
            <a:ext cx="502285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b="1" dirty="0">
                <a:latin typeface="Calibri"/>
                <a:cs typeface="Calibri"/>
              </a:rPr>
              <a:t>12.</a:t>
            </a:r>
            <a:r>
              <a:rPr sz="1400" b="1" spc="47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Test</a:t>
            </a:r>
            <a:r>
              <a:rPr sz="1400" b="1" spc="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Execution</a:t>
            </a:r>
            <a:r>
              <a:rPr sz="1400" b="1" spc="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Status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pass/fail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status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after</a:t>
            </a:r>
            <a:endParaRPr sz="14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alibri"/>
                <a:cs typeface="Calibri"/>
              </a:rPr>
              <a:t>execution.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2464" y="3603802"/>
            <a:ext cx="502602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501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13.</a:t>
            </a:r>
            <a:r>
              <a:rPr sz="1400" b="1" spc="95" dirty="0">
                <a:latin typeface="Calibri"/>
                <a:cs typeface="Calibri"/>
              </a:rPr>
              <a:t>  </a:t>
            </a:r>
            <a:r>
              <a:rPr sz="1400" b="1" spc="-10" dirty="0">
                <a:latin typeface="Calibri"/>
                <a:cs typeface="Calibri"/>
              </a:rPr>
              <a:t>Test</a:t>
            </a:r>
            <a:r>
              <a:rPr sz="1400" b="1" spc="8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Conclusion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summary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results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observations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test.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8774"/>
            <a:ext cx="5029200" cy="2392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40100"/>
              </a:lnSpc>
              <a:spcBef>
                <a:spcPts val="95"/>
              </a:spcBef>
              <a:buAutoNum type="arabicPeriod" startAt="15"/>
              <a:tabLst>
                <a:tab pos="356870" algn="l"/>
              </a:tabLst>
            </a:pPr>
            <a:r>
              <a:rPr sz="1500" b="1" dirty="0">
                <a:latin typeface="Calibri"/>
                <a:cs typeface="Calibri"/>
              </a:rPr>
              <a:t>Bug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Details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(optional)</a:t>
            </a:r>
            <a:r>
              <a:rPr sz="1500" dirty="0">
                <a:latin typeface="Calibri"/>
                <a:cs typeface="Calibri"/>
              </a:rPr>
              <a:t>: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 defect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identified,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details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about 	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issue,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its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severity,</a:t>
            </a:r>
            <a:r>
              <a:rPr sz="1500" spc="1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steps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reproduce</a:t>
            </a:r>
            <a:r>
              <a:rPr sz="1500" spc="1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it.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Generally 	</a:t>
            </a:r>
            <a:r>
              <a:rPr sz="1500" dirty="0">
                <a:latin typeface="Calibri"/>
                <a:cs typeface="Calibri"/>
              </a:rPr>
              <a:t>teams</a:t>
            </a:r>
            <a:r>
              <a:rPr sz="1500" spc="2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will</a:t>
            </a:r>
            <a:r>
              <a:rPr sz="1500" spc="2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manage</a:t>
            </a:r>
            <a:r>
              <a:rPr sz="1500" spc="20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2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bugs</a:t>
            </a:r>
            <a:r>
              <a:rPr sz="1500" spc="2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found</a:t>
            </a:r>
            <a:r>
              <a:rPr sz="1500" spc="2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2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another</a:t>
            </a:r>
            <a:r>
              <a:rPr sz="1500" spc="2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dashboard, 	</a:t>
            </a:r>
            <a:r>
              <a:rPr sz="1500" dirty="0">
                <a:latin typeface="Calibri"/>
                <a:cs typeface="Calibri"/>
              </a:rPr>
              <a:t>but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you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want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link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bug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found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specific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case, 	</a:t>
            </a:r>
            <a:r>
              <a:rPr sz="1500" dirty="0">
                <a:latin typeface="Calibri"/>
                <a:cs typeface="Calibri"/>
              </a:rPr>
              <a:t>you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totally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include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field </a:t>
            </a:r>
            <a:r>
              <a:rPr sz="1500" spc="-20" dirty="0">
                <a:latin typeface="Calibri"/>
                <a:cs typeface="Calibri"/>
              </a:rPr>
              <a:t>there</a:t>
            </a:r>
            <a:endParaRPr sz="1500">
              <a:latin typeface="Calibri"/>
              <a:cs typeface="Calibri"/>
            </a:endParaRPr>
          </a:p>
          <a:p>
            <a:pPr marL="355600" marR="8890" indent="-343535" algn="just">
              <a:lnSpc>
                <a:spcPct val="140200"/>
              </a:lnSpc>
              <a:spcBef>
                <a:spcPts val="980"/>
              </a:spcBef>
              <a:buAutoNum type="arabicPeriod" startAt="15"/>
              <a:tabLst>
                <a:tab pos="356870" algn="l"/>
              </a:tabLst>
            </a:pPr>
            <a:r>
              <a:rPr sz="1500" b="1" dirty="0">
                <a:latin typeface="Calibri"/>
                <a:cs typeface="Calibri"/>
              </a:rPr>
              <a:t>Attachments</a:t>
            </a:r>
            <a:r>
              <a:rPr sz="1500" dirty="0">
                <a:latin typeface="Calibri"/>
                <a:cs typeface="Calibri"/>
              </a:rPr>
              <a:t>:</a:t>
            </a:r>
            <a:r>
              <a:rPr sz="1500" spc="245" dirty="0">
                <a:latin typeface="Calibri"/>
                <a:cs typeface="Calibri"/>
              </a:rPr>
              <a:t>   </a:t>
            </a:r>
            <a:r>
              <a:rPr sz="1500" dirty="0">
                <a:latin typeface="Calibri"/>
                <a:cs typeface="Calibri"/>
              </a:rPr>
              <a:t>Any</a:t>
            </a:r>
            <a:r>
              <a:rPr sz="1500" spc="240" dirty="0">
                <a:latin typeface="Calibri"/>
                <a:cs typeface="Calibri"/>
              </a:rPr>
              <a:t>   </a:t>
            </a:r>
            <a:r>
              <a:rPr sz="1500" dirty="0">
                <a:latin typeface="Calibri"/>
                <a:cs typeface="Calibri"/>
              </a:rPr>
              <a:t>relevant</a:t>
            </a:r>
            <a:r>
              <a:rPr sz="1500" spc="245" dirty="0">
                <a:latin typeface="Calibri"/>
                <a:cs typeface="Calibri"/>
              </a:rPr>
              <a:t>   </a:t>
            </a:r>
            <a:r>
              <a:rPr sz="1500" dirty="0">
                <a:latin typeface="Calibri"/>
                <a:cs typeface="Calibri"/>
              </a:rPr>
              <a:t>files,</a:t>
            </a:r>
            <a:r>
              <a:rPr sz="1500" spc="254" dirty="0">
                <a:latin typeface="Calibri"/>
                <a:cs typeface="Calibri"/>
              </a:rPr>
              <a:t>   </a:t>
            </a:r>
            <a:r>
              <a:rPr sz="1500" dirty="0">
                <a:latin typeface="Calibri"/>
                <a:cs typeface="Calibri"/>
              </a:rPr>
              <a:t>screenshots,</a:t>
            </a:r>
            <a:r>
              <a:rPr sz="1500" spc="245" dirty="0">
                <a:latin typeface="Calibri"/>
                <a:cs typeface="Calibri"/>
              </a:rPr>
              <a:t>   </a:t>
            </a:r>
            <a:r>
              <a:rPr sz="1500" spc="-25" dirty="0">
                <a:latin typeface="Calibri"/>
                <a:cs typeface="Calibri"/>
              </a:rPr>
              <a:t>or 	</a:t>
            </a:r>
            <a:r>
              <a:rPr sz="1500" spc="-10" dirty="0">
                <a:latin typeface="Calibri"/>
                <a:cs typeface="Calibri"/>
              </a:rPr>
              <a:t>documentation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associated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 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test.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2952414"/>
            <a:ext cx="5026660" cy="6667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500" b="1" dirty="0">
                <a:latin typeface="Calibri"/>
                <a:cs typeface="Calibri"/>
              </a:rPr>
              <a:t>17.</a:t>
            </a:r>
            <a:r>
              <a:rPr sz="1500" b="1" spc="36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Test</a:t>
            </a:r>
            <a:r>
              <a:rPr sz="1500" b="1" spc="14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Case</a:t>
            </a:r>
            <a:r>
              <a:rPr sz="1500" b="1" spc="1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Author</a:t>
            </a:r>
            <a:r>
              <a:rPr sz="1500" dirty="0">
                <a:latin typeface="Calibri"/>
                <a:cs typeface="Calibri"/>
              </a:rPr>
              <a:t>: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person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responsible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creating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</a:t>
            </a:r>
            <a:endParaRPr sz="15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725"/>
              </a:spcBef>
            </a:pPr>
            <a:r>
              <a:rPr sz="1500" dirty="0">
                <a:latin typeface="Calibri"/>
                <a:cs typeface="Calibri"/>
              </a:rPr>
              <a:t>test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case.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3720764"/>
            <a:ext cx="5029835" cy="220027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19"/>
              </a:spcBef>
              <a:buAutoNum type="arabicPeriod" startAt="18"/>
              <a:tabLst>
                <a:tab pos="356235" algn="l"/>
                <a:tab pos="820419" algn="l"/>
                <a:tab pos="1332230" algn="l"/>
                <a:tab pos="2262505" algn="l"/>
                <a:tab pos="2698115" algn="l"/>
                <a:tab pos="3378200" algn="l"/>
                <a:tab pos="3862704" algn="l"/>
                <a:tab pos="4719955" algn="l"/>
              </a:tabLst>
            </a:pPr>
            <a:r>
              <a:rPr sz="1500" b="1" spc="-20" dirty="0">
                <a:latin typeface="Calibri"/>
                <a:cs typeface="Calibri"/>
              </a:rPr>
              <a:t>Test</a:t>
            </a:r>
            <a:r>
              <a:rPr sz="1500" b="1" dirty="0">
                <a:latin typeface="Calibri"/>
                <a:cs typeface="Calibri"/>
              </a:rPr>
              <a:t>	</a:t>
            </a:r>
            <a:r>
              <a:rPr sz="1500" b="1" spc="-20" dirty="0">
                <a:latin typeface="Calibri"/>
                <a:cs typeface="Calibri"/>
              </a:rPr>
              <a:t>Case</a:t>
            </a:r>
            <a:r>
              <a:rPr sz="1500" b="1" dirty="0">
                <a:latin typeface="Calibri"/>
                <a:cs typeface="Calibri"/>
              </a:rPr>
              <a:t>	</a:t>
            </a:r>
            <a:r>
              <a:rPr sz="1500" b="1" spc="-10" dirty="0">
                <a:latin typeface="Calibri"/>
                <a:cs typeface="Calibri"/>
              </a:rPr>
              <a:t>Reviewer</a:t>
            </a:r>
            <a:r>
              <a:rPr sz="1500" spc="-10" dirty="0">
                <a:latin typeface="Calibri"/>
                <a:cs typeface="Calibri"/>
              </a:rPr>
              <a:t>: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25" dirty="0">
                <a:latin typeface="Calibri"/>
                <a:cs typeface="Calibri"/>
              </a:rPr>
              <a:t>The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10" dirty="0">
                <a:latin typeface="Calibri"/>
                <a:cs typeface="Calibri"/>
              </a:rPr>
              <a:t>person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25" dirty="0">
                <a:latin typeface="Calibri"/>
                <a:cs typeface="Calibri"/>
              </a:rPr>
              <a:t>who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10" dirty="0">
                <a:latin typeface="Calibri"/>
                <a:cs typeface="Calibri"/>
              </a:rPr>
              <a:t>reviewed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25" dirty="0">
                <a:latin typeface="Calibri"/>
                <a:cs typeface="Calibri"/>
              </a:rPr>
              <a:t>and</a:t>
            </a:r>
            <a:endParaRPr sz="15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725"/>
              </a:spcBef>
            </a:pPr>
            <a:r>
              <a:rPr sz="1500" spc="-10" dirty="0">
                <a:latin typeface="Calibri"/>
                <a:cs typeface="Calibri"/>
              </a:rPr>
              <a:t>approved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case.</a:t>
            </a:r>
            <a:endParaRPr sz="1500">
              <a:latin typeface="Calibri"/>
              <a:cs typeface="Calibri"/>
            </a:endParaRPr>
          </a:p>
          <a:p>
            <a:pPr marL="355600" marR="5080" indent="-343535">
              <a:lnSpc>
                <a:spcPct val="140000"/>
              </a:lnSpc>
              <a:spcBef>
                <a:spcPts val="985"/>
              </a:spcBef>
              <a:buAutoNum type="arabicPeriod" startAt="19"/>
              <a:tabLst>
                <a:tab pos="356870" algn="l"/>
              </a:tabLst>
            </a:pPr>
            <a:r>
              <a:rPr sz="1500" b="1" dirty="0">
                <a:latin typeface="Calibri"/>
                <a:cs typeface="Calibri"/>
              </a:rPr>
              <a:t>Test</a:t>
            </a:r>
            <a:r>
              <a:rPr sz="1500" b="1" spc="18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Case</a:t>
            </a:r>
            <a:r>
              <a:rPr sz="1500" b="1" spc="18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Version</a:t>
            </a:r>
            <a:r>
              <a:rPr sz="1500" dirty="0">
                <a:latin typeface="Calibri"/>
                <a:cs typeface="Calibri"/>
              </a:rPr>
              <a:t>:</a:t>
            </a:r>
            <a:r>
              <a:rPr sz="1500" spc="1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version</a:t>
            </a:r>
            <a:r>
              <a:rPr sz="1500" spc="1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20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revision</a:t>
            </a:r>
            <a:r>
              <a:rPr sz="1500" spc="20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1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	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case.</a:t>
            </a:r>
            <a:endParaRPr sz="15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1730"/>
              </a:spcBef>
              <a:buAutoNum type="arabicPeriod" startAt="19"/>
              <a:tabLst>
                <a:tab pos="356235" algn="l"/>
                <a:tab pos="1972945" algn="l"/>
                <a:tab pos="2927350" algn="l"/>
                <a:tab pos="4051935" algn="l"/>
                <a:tab pos="4850765" algn="l"/>
              </a:tabLst>
            </a:pPr>
            <a:r>
              <a:rPr sz="1500" b="1" spc="-10" dirty="0">
                <a:latin typeface="Calibri"/>
                <a:cs typeface="Calibri"/>
              </a:rPr>
              <a:t>Notes/Comments</a:t>
            </a:r>
            <a:r>
              <a:rPr sz="1500" spc="-10" dirty="0">
                <a:latin typeface="Calibri"/>
                <a:cs typeface="Calibri"/>
              </a:rPr>
              <a:t>: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10" dirty="0">
                <a:latin typeface="Calibri"/>
                <a:cs typeface="Calibri"/>
              </a:rPr>
              <a:t>Additional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10" dirty="0">
                <a:latin typeface="Calibri"/>
                <a:cs typeface="Calibri"/>
              </a:rPr>
              <a:t>information,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10" dirty="0">
                <a:latin typeface="Calibri"/>
                <a:cs typeface="Calibri"/>
              </a:rPr>
              <a:t>insights,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25" dirty="0">
                <a:latin typeface="Calibri"/>
                <a:cs typeface="Calibri"/>
              </a:rPr>
              <a:t>or</a:t>
            </a:r>
            <a:endParaRPr sz="15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720"/>
              </a:spcBef>
            </a:pPr>
            <a:r>
              <a:rPr sz="1500" dirty="0">
                <a:latin typeface="Calibri"/>
                <a:cs typeface="Calibri"/>
              </a:rPr>
              <a:t>comments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related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case.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531368"/>
            <a:ext cx="18053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35" dirty="0">
                <a:solidFill>
                  <a:srgbClr val="600A38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case</a:t>
            </a:r>
            <a:r>
              <a:rPr sz="1400" b="1" spc="-5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review</a:t>
            </a:r>
            <a:r>
              <a:rPr sz="1400" b="1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Report: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832644"/>
            <a:ext cx="5023485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b="1" spc="-10" dirty="0">
                <a:solidFill>
                  <a:srgbClr val="212121"/>
                </a:solidFill>
                <a:latin typeface="Calibri"/>
                <a:cs typeface="Calibri"/>
              </a:rPr>
              <a:t>Test</a:t>
            </a:r>
            <a:r>
              <a:rPr sz="1400" b="1" spc="9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2121"/>
                </a:solidFill>
                <a:latin typeface="Calibri"/>
                <a:cs typeface="Calibri"/>
              </a:rPr>
              <a:t>Report</a:t>
            </a:r>
            <a:r>
              <a:rPr sz="1400" b="1" spc="1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1400" spc="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400" spc="11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document</a:t>
            </a:r>
            <a:r>
              <a:rPr sz="1400" spc="1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which</a:t>
            </a:r>
            <a:r>
              <a:rPr sz="1400" spc="1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contains</a:t>
            </a:r>
            <a:r>
              <a:rPr sz="1400" spc="10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400" spc="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summary</a:t>
            </a:r>
            <a:r>
              <a:rPr sz="1400" spc="1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400" spc="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all</a:t>
            </a:r>
            <a:r>
              <a:rPr sz="1400" spc="10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12121"/>
                </a:solidFill>
                <a:latin typeface="Calibri"/>
                <a:cs typeface="Calibri"/>
              </a:rPr>
              <a:t>test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activities</a:t>
            </a:r>
            <a:r>
              <a:rPr sz="1400" spc="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final</a:t>
            </a:r>
            <a:r>
              <a:rPr sz="14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test</a:t>
            </a:r>
            <a:r>
              <a:rPr sz="14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results</a:t>
            </a:r>
            <a:r>
              <a:rPr sz="1400" spc="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400" spc="-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400" spc="-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testing</a:t>
            </a:r>
            <a:r>
              <a:rPr sz="1400" spc="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project.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1601122"/>
            <a:ext cx="5022850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40" dirty="0">
                <a:solidFill>
                  <a:srgbClr val="212121"/>
                </a:solidFill>
                <a:latin typeface="Calibri"/>
                <a:cs typeface="Calibri"/>
              </a:rPr>
              <a:t>Test</a:t>
            </a:r>
            <a:r>
              <a:rPr sz="140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report</a:t>
            </a:r>
            <a:r>
              <a:rPr sz="14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14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an</a:t>
            </a:r>
            <a:r>
              <a:rPr sz="14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assessment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4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how</a:t>
            </a:r>
            <a:r>
              <a:rPr sz="14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well</a:t>
            </a:r>
            <a:r>
              <a:rPr sz="14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400" u="sng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Testing</a:t>
            </a:r>
            <a:r>
              <a:rPr sz="14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14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performed. 	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Based</a:t>
            </a:r>
            <a:r>
              <a:rPr sz="14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on</a:t>
            </a:r>
            <a:r>
              <a:rPr sz="1400" spc="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400" spc="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test</a:t>
            </a:r>
            <a:r>
              <a:rPr sz="14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report,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stakeholders</a:t>
            </a:r>
            <a:r>
              <a:rPr sz="1400" spc="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can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evaluate</a:t>
            </a:r>
            <a:r>
              <a:rPr sz="140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400" spc="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quality </a:t>
            </a:r>
            <a:r>
              <a:rPr sz="1400" spc="-25" dirty="0">
                <a:solidFill>
                  <a:srgbClr val="212121"/>
                </a:solidFill>
                <a:latin typeface="Calibri"/>
                <a:cs typeface="Calibri"/>
              </a:rPr>
              <a:t>of 	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tested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 product</a:t>
            </a:r>
            <a:r>
              <a:rPr sz="14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make</a:t>
            </a:r>
            <a:r>
              <a:rPr sz="1400" spc="-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decision</a:t>
            </a:r>
            <a:r>
              <a:rPr sz="14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on</a:t>
            </a:r>
            <a:r>
              <a:rPr sz="1400" spc="-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software release.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2689402"/>
            <a:ext cx="502348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sz="1400" spc="3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example,</a:t>
            </a:r>
            <a:r>
              <a:rPr sz="1400" spc="3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if</a:t>
            </a:r>
            <a:r>
              <a:rPr sz="1400" spc="3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400" spc="39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test</a:t>
            </a:r>
            <a:r>
              <a:rPr sz="1400" spc="3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report</a:t>
            </a:r>
            <a:r>
              <a:rPr sz="1400" spc="3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informs</a:t>
            </a:r>
            <a:r>
              <a:rPr sz="1400" spc="3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that</a:t>
            </a:r>
            <a:r>
              <a:rPr sz="1400" spc="3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there</a:t>
            </a:r>
            <a:r>
              <a:rPr sz="1400" spc="36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are</a:t>
            </a:r>
            <a:r>
              <a:rPr sz="1400" spc="3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12121"/>
                </a:solidFill>
                <a:latin typeface="Calibri"/>
                <a:cs typeface="Calibri"/>
              </a:rPr>
              <a:t>many 	</a:t>
            </a:r>
            <a:r>
              <a:rPr sz="1400" b="1" dirty="0">
                <a:solidFill>
                  <a:srgbClr val="212121"/>
                </a:solidFill>
                <a:latin typeface="Calibri"/>
                <a:cs typeface="Calibri"/>
              </a:rPr>
              <a:t>defects</a:t>
            </a:r>
            <a:r>
              <a:rPr sz="1400" b="1" spc="28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2121"/>
                </a:solidFill>
                <a:latin typeface="Calibri"/>
                <a:cs typeface="Calibri"/>
              </a:rPr>
              <a:t>remaining</a:t>
            </a:r>
            <a:r>
              <a:rPr sz="1400" b="1" spc="2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in</a:t>
            </a:r>
            <a:r>
              <a:rPr sz="1400" spc="2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400" spc="3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product,</a:t>
            </a:r>
            <a:r>
              <a:rPr sz="1400" spc="3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stakeholders</a:t>
            </a:r>
            <a:r>
              <a:rPr sz="1400" spc="27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can</a:t>
            </a:r>
            <a:r>
              <a:rPr sz="1400" spc="3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2121"/>
                </a:solidFill>
                <a:latin typeface="Calibri"/>
                <a:cs typeface="Calibri"/>
              </a:rPr>
              <a:t>delay</a:t>
            </a:r>
            <a:r>
              <a:rPr sz="1400" b="1" spc="28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212121"/>
                </a:solidFill>
                <a:latin typeface="Calibri"/>
                <a:cs typeface="Calibri"/>
              </a:rPr>
              <a:t>the 	</a:t>
            </a:r>
            <a:r>
              <a:rPr sz="1400" b="1" dirty="0">
                <a:solidFill>
                  <a:srgbClr val="212121"/>
                </a:solidFill>
                <a:latin typeface="Calibri"/>
                <a:cs typeface="Calibri"/>
              </a:rPr>
              <a:t>release</a:t>
            </a:r>
            <a:r>
              <a:rPr sz="1400" b="1" spc="-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until</a:t>
            </a:r>
            <a:r>
              <a:rPr sz="1400" spc="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all</a:t>
            </a:r>
            <a:r>
              <a:rPr sz="1400" spc="-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defects</a:t>
            </a:r>
            <a:r>
              <a:rPr sz="1400" spc="-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are</a:t>
            </a:r>
            <a:r>
              <a:rPr sz="140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Calibri"/>
                <a:cs typeface="Calibri"/>
              </a:rPr>
              <a:t>fixed</a:t>
            </a:r>
            <a:r>
              <a:rPr sz="1050" spc="-10" dirty="0">
                <a:solidFill>
                  <a:srgbClr val="212121"/>
                </a:solidFill>
                <a:latin typeface="Impact"/>
                <a:cs typeface="Impact"/>
              </a:rPr>
              <a:t>.</a:t>
            </a:r>
            <a:endParaRPr sz="105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495" y="459993"/>
            <a:ext cx="2485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Why</a:t>
            </a:r>
            <a:r>
              <a:rPr sz="13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13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6F2F9F"/>
                </a:solidFill>
                <a:latin typeface="Calibri"/>
                <a:cs typeface="Calibri"/>
              </a:rPr>
              <a:t>Test</a:t>
            </a:r>
            <a:r>
              <a:rPr sz="13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Case</a:t>
            </a:r>
            <a:r>
              <a:rPr sz="13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Review</a:t>
            </a:r>
            <a:r>
              <a:rPr sz="13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6F2F9F"/>
                </a:solidFill>
                <a:latin typeface="Calibri"/>
                <a:cs typeface="Calibri"/>
              </a:rPr>
              <a:t>Important?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495" y="853567"/>
            <a:ext cx="5025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300" dirty="0">
                <a:latin typeface="Calibri"/>
                <a:cs typeface="Calibri"/>
              </a:rPr>
              <a:t>During</a:t>
            </a:r>
            <a:r>
              <a:rPr sz="1300" spc="3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3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3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review</a:t>
            </a:r>
            <a:r>
              <a:rPr sz="1300" spc="3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–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two</a:t>
            </a:r>
            <a:r>
              <a:rPr sz="1300" spc="3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viewpoints</a:t>
            </a:r>
            <a:r>
              <a:rPr sz="1300" spc="3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are</a:t>
            </a:r>
            <a:r>
              <a:rPr sz="1300" spc="3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incorporated,</a:t>
            </a:r>
            <a:r>
              <a:rPr sz="1300" spc="31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if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095" y="1152271"/>
            <a:ext cx="4173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latin typeface="Calibri"/>
                <a:cs typeface="Calibri"/>
              </a:rPr>
              <a:t>anything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missed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by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one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provided by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other.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495" y="1576197"/>
            <a:ext cx="5022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300" dirty="0">
                <a:latin typeface="Calibri"/>
                <a:cs typeface="Calibri"/>
              </a:rPr>
              <a:t>Test</a:t>
            </a:r>
            <a:r>
              <a:rPr sz="1300" spc="1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</a:t>
            </a:r>
            <a:r>
              <a:rPr sz="1300" spc="1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reviews</a:t>
            </a:r>
            <a:r>
              <a:rPr sz="1300" spc="1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ensures</a:t>
            </a:r>
            <a:r>
              <a:rPr sz="1300" spc="1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19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all</a:t>
            </a:r>
            <a:r>
              <a:rPr sz="1300" b="1" spc="19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team</a:t>
            </a:r>
            <a:r>
              <a:rPr sz="1300" b="1" spc="19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members</a:t>
            </a:r>
            <a:r>
              <a:rPr sz="1300" b="1" spc="204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are</a:t>
            </a:r>
            <a:r>
              <a:rPr sz="1300" b="1" spc="18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on</a:t>
            </a:r>
            <a:r>
              <a:rPr sz="1300" b="1" spc="19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190" dirty="0">
                <a:latin typeface="Calibri"/>
                <a:cs typeface="Calibri"/>
              </a:rPr>
              <a:t> </a:t>
            </a:r>
            <a:r>
              <a:rPr sz="1300" b="1" spc="-20" dirty="0">
                <a:latin typeface="Calibri"/>
                <a:cs typeface="Calibri"/>
              </a:rPr>
              <a:t>same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095" y="1871852"/>
            <a:ext cx="28060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Calibri"/>
                <a:cs typeface="Calibri"/>
              </a:rPr>
              <a:t>page</a:t>
            </a:r>
            <a:r>
              <a:rPr sz="1300" b="1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about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feature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requirements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495" y="2200808"/>
            <a:ext cx="5022215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492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During</a:t>
            </a:r>
            <a:r>
              <a:rPr sz="1300" spc="114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100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case</a:t>
            </a:r>
            <a:r>
              <a:rPr sz="1300" spc="110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reviews,</a:t>
            </a:r>
            <a:r>
              <a:rPr sz="1300" spc="4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any</a:t>
            </a:r>
            <a:r>
              <a:rPr sz="1300" spc="105" dirty="0">
                <a:latin typeface="Calibri"/>
                <a:cs typeface="Calibri"/>
              </a:rPr>
              <a:t>  </a:t>
            </a:r>
            <a:r>
              <a:rPr sz="1300" b="1" dirty="0">
                <a:latin typeface="Calibri"/>
                <a:cs typeface="Calibri"/>
              </a:rPr>
              <a:t>differences</a:t>
            </a:r>
            <a:r>
              <a:rPr sz="1300" b="1" spc="125" dirty="0">
                <a:latin typeface="Calibri"/>
                <a:cs typeface="Calibri"/>
              </a:rPr>
              <a:t>  </a:t>
            </a:r>
            <a:r>
              <a:rPr sz="1300" b="1" dirty="0">
                <a:latin typeface="Calibri"/>
                <a:cs typeface="Calibri"/>
              </a:rPr>
              <a:t>in</a:t>
            </a:r>
            <a:r>
              <a:rPr sz="1300" b="1" spc="110" dirty="0">
                <a:latin typeface="Calibri"/>
                <a:cs typeface="Calibri"/>
              </a:rPr>
              <a:t>  </a:t>
            </a:r>
            <a:r>
              <a:rPr sz="1300" b="1" dirty="0">
                <a:latin typeface="Calibri"/>
                <a:cs typeface="Calibri"/>
              </a:rPr>
              <a:t>understanding</a:t>
            </a:r>
            <a:r>
              <a:rPr sz="1300" b="1" spc="110" dirty="0">
                <a:latin typeface="Calibri"/>
                <a:cs typeface="Calibri"/>
              </a:rPr>
              <a:t> 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requirements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sorted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out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sooner.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495" y="2930143"/>
            <a:ext cx="2025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Who</a:t>
            </a:r>
            <a:r>
              <a:rPr sz="1300" b="1" spc="-10" dirty="0">
                <a:solidFill>
                  <a:srgbClr val="6F2F9F"/>
                </a:solidFill>
                <a:latin typeface="Calibri"/>
                <a:cs typeface="Calibri"/>
              </a:rPr>
              <a:t> Reviews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13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spc="-30" dirty="0">
                <a:solidFill>
                  <a:srgbClr val="6F2F9F"/>
                </a:solidFill>
                <a:latin typeface="Calibri"/>
                <a:cs typeface="Calibri"/>
              </a:rPr>
              <a:t>Test</a:t>
            </a:r>
            <a:r>
              <a:rPr sz="13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6F2F9F"/>
                </a:solidFill>
                <a:latin typeface="Calibri"/>
                <a:cs typeface="Calibri"/>
              </a:rPr>
              <a:t>Cases?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495" y="3221457"/>
            <a:ext cx="5021580" cy="6242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240665" algn="l"/>
              </a:tabLst>
            </a:pPr>
            <a:r>
              <a:rPr sz="1300" dirty="0">
                <a:latin typeface="Calibri"/>
                <a:cs typeface="Calibri"/>
              </a:rPr>
              <a:t>The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1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</a:t>
            </a:r>
            <a:r>
              <a:rPr sz="1300" spc="1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review</a:t>
            </a:r>
            <a:r>
              <a:rPr sz="1300" spc="1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process</a:t>
            </a:r>
            <a:r>
              <a:rPr sz="1300" spc="1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done</a:t>
            </a:r>
            <a:r>
              <a:rPr sz="1300" spc="1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by</a:t>
            </a:r>
            <a:r>
              <a:rPr sz="1300" spc="17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204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test</a:t>
            </a:r>
            <a:r>
              <a:rPr sz="1300" b="1" spc="19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lead</a:t>
            </a:r>
            <a:r>
              <a:rPr sz="1300" b="1" spc="1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</a:t>
            </a:r>
            <a:r>
              <a:rPr sz="1300" spc="19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other</a:t>
            </a:r>
            <a:r>
              <a:rPr sz="1300" b="1" spc="180" dirty="0">
                <a:latin typeface="Calibri"/>
                <a:cs typeface="Calibri"/>
              </a:rPr>
              <a:t> </a:t>
            </a:r>
            <a:r>
              <a:rPr sz="1300" b="1" spc="-20" dirty="0">
                <a:latin typeface="Calibri"/>
                <a:cs typeface="Calibri"/>
              </a:rPr>
              <a:t>test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1300" b="1" dirty="0">
                <a:latin typeface="Calibri"/>
                <a:cs typeface="Calibri"/>
              </a:rPr>
              <a:t>engineers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in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spc="-20" dirty="0">
                <a:latin typeface="Calibri"/>
                <a:cs typeface="Calibri"/>
              </a:rPr>
              <a:t>team.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495" y="3943959"/>
            <a:ext cx="5020945" cy="920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114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After</a:t>
            </a:r>
            <a:r>
              <a:rPr sz="1300" spc="1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1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author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finishes</a:t>
            </a:r>
            <a:r>
              <a:rPr sz="1300" spc="1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creating</a:t>
            </a:r>
            <a:r>
              <a:rPr sz="1300" spc="1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1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cases,</a:t>
            </a:r>
            <a:r>
              <a:rPr sz="1300" spc="1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they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will</a:t>
            </a:r>
            <a:r>
              <a:rPr sz="1300" spc="1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sent</a:t>
            </a:r>
            <a:r>
              <a:rPr sz="1300" spc="1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1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other</a:t>
            </a:r>
            <a:r>
              <a:rPr sz="1300" spc="2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2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engineers,</a:t>
            </a:r>
            <a:r>
              <a:rPr sz="1300" spc="2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known</a:t>
            </a:r>
            <a:r>
              <a:rPr sz="1300" spc="2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2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reviewers,</a:t>
            </a:r>
            <a:r>
              <a:rPr sz="1300" spc="2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25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2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2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</a:t>
            </a:r>
            <a:r>
              <a:rPr sz="1300" spc="26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review process.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495" y="4963930"/>
            <a:ext cx="5019675" cy="62293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</a:tabLst>
            </a:pPr>
            <a:r>
              <a:rPr sz="1300" dirty="0">
                <a:latin typeface="Calibri"/>
                <a:cs typeface="Calibri"/>
              </a:rPr>
              <a:t>The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reviewer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verifies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correctness,</a:t>
            </a:r>
            <a:r>
              <a:rPr sz="1300" b="1" spc="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accuracy,</a:t>
            </a:r>
            <a:r>
              <a:rPr sz="1300" b="1" spc="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flow,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and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coverage</a:t>
            </a:r>
            <a:r>
              <a:rPr sz="1300" b="1" spc="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of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1300" dirty="0">
                <a:latin typeface="Calibri"/>
                <a:cs typeface="Calibri"/>
              </a:rPr>
              <a:t>the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 </a:t>
            </a:r>
            <a:r>
              <a:rPr sz="1300" spc="-10" dirty="0">
                <a:latin typeface="Calibri"/>
                <a:cs typeface="Calibri"/>
              </a:rPr>
              <a:t>case.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11239" y="549655"/>
            <a:ext cx="4431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6F2F9F"/>
                </a:solidFill>
                <a:latin typeface="Calibri"/>
                <a:cs typeface="Calibri"/>
              </a:rPr>
              <a:t>Advantages</a:t>
            </a:r>
            <a:r>
              <a:rPr sz="13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13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13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6F2F9F"/>
                </a:solidFill>
                <a:latin typeface="Calibri"/>
                <a:cs typeface="Calibri"/>
              </a:rPr>
              <a:t>Test</a:t>
            </a:r>
            <a:r>
              <a:rPr sz="13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Case</a:t>
            </a:r>
            <a:r>
              <a:rPr sz="13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Review</a:t>
            </a:r>
            <a:r>
              <a:rPr sz="13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Process</a:t>
            </a:r>
            <a:r>
              <a:rPr sz="13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13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F2F9F"/>
                </a:solidFill>
                <a:latin typeface="Calibri"/>
                <a:cs typeface="Calibri"/>
              </a:rPr>
              <a:t>Software</a:t>
            </a:r>
            <a:r>
              <a:rPr sz="13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6F2F9F"/>
                </a:solidFill>
                <a:latin typeface="Calibri"/>
                <a:cs typeface="Calibri"/>
              </a:rPr>
              <a:t>Testing?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11239" y="1145895"/>
            <a:ext cx="4871085" cy="62420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b="1" dirty="0">
                <a:latin typeface="Calibri"/>
                <a:cs typeface="Calibri"/>
              </a:rPr>
              <a:t>1.</a:t>
            </a:r>
            <a:r>
              <a:rPr sz="1300" b="1" spc="47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Improved</a:t>
            </a:r>
            <a:r>
              <a:rPr sz="1300" b="1" spc="459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Quality:</a:t>
            </a:r>
            <a:r>
              <a:rPr sz="1300" b="1" spc="459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Reviewing</a:t>
            </a:r>
            <a:r>
              <a:rPr sz="1300" spc="4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4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cases</a:t>
            </a:r>
            <a:r>
              <a:rPr sz="1300" spc="48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helps</a:t>
            </a:r>
            <a:r>
              <a:rPr sz="1300" spc="4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identify</a:t>
            </a:r>
            <a:r>
              <a:rPr sz="1300" spc="47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defects,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1300" dirty="0">
                <a:latin typeface="Calibri"/>
                <a:cs typeface="Calibri"/>
              </a:rPr>
              <a:t>errors,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omissions</a:t>
            </a:r>
            <a:r>
              <a:rPr sz="1300" spc="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early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on,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leading 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higher-</a:t>
            </a:r>
            <a:r>
              <a:rPr sz="1300" dirty="0">
                <a:latin typeface="Calibri"/>
                <a:cs typeface="Calibri"/>
              </a:rPr>
              <a:t>quality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software.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11239" y="1868779"/>
            <a:ext cx="4869815" cy="919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114"/>
              </a:spcBef>
            </a:pPr>
            <a:r>
              <a:rPr sz="1300" b="1" dirty="0">
                <a:latin typeface="Calibri"/>
                <a:cs typeface="Calibri"/>
              </a:rPr>
              <a:t>2.</a:t>
            </a:r>
            <a:r>
              <a:rPr sz="1300" b="1" spc="46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Enhanced</a:t>
            </a:r>
            <a:r>
              <a:rPr sz="1300" b="1" spc="170" dirty="0">
                <a:latin typeface="Calibri"/>
                <a:cs typeface="Calibri"/>
              </a:rPr>
              <a:t>  </a:t>
            </a:r>
            <a:r>
              <a:rPr sz="1300" b="1" dirty="0">
                <a:latin typeface="Calibri"/>
                <a:cs typeface="Calibri"/>
              </a:rPr>
              <a:t>Test</a:t>
            </a:r>
            <a:r>
              <a:rPr sz="1300" b="1" spc="170" dirty="0">
                <a:latin typeface="Calibri"/>
                <a:cs typeface="Calibri"/>
              </a:rPr>
              <a:t>  </a:t>
            </a:r>
            <a:r>
              <a:rPr sz="1300" b="1" dirty="0">
                <a:latin typeface="Calibri"/>
                <a:cs typeface="Calibri"/>
              </a:rPr>
              <a:t>Coverage:</a:t>
            </a:r>
            <a:r>
              <a:rPr sz="1300" b="1" spc="165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Reviewing</a:t>
            </a:r>
            <a:r>
              <a:rPr sz="1300" spc="175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180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cases</a:t>
            </a:r>
            <a:r>
              <a:rPr sz="1300" spc="165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allows</a:t>
            </a:r>
            <a:r>
              <a:rPr sz="1300" spc="165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665" dirty="0">
                <a:latin typeface="Calibri"/>
                <a:cs typeface="Calibri"/>
              </a:rPr>
              <a:t> </a:t>
            </a:r>
            <a:r>
              <a:rPr sz="1300" spc="-50" dirty="0">
                <a:latin typeface="Calibri"/>
                <a:cs typeface="Calibri"/>
              </a:rPr>
              <a:t>a </a:t>
            </a:r>
            <a:r>
              <a:rPr sz="1300" b="1" dirty="0">
                <a:latin typeface="Calibri"/>
                <a:cs typeface="Calibri"/>
              </a:rPr>
              <a:t>comprehensive</a:t>
            </a:r>
            <a:r>
              <a:rPr sz="1300" b="1" spc="114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examination</a:t>
            </a:r>
            <a:r>
              <a:rPr sz="1300" b="1" spc="9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of</a:t>
            </a:r>
            <a:r>
              <a:rPr sz="1300" b="1" spc="114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test</a:t>
            </a:r>
            <a:r>
              <a:rPr sz="1300" b="1" spc="10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scenarios,</a:t>
            </a:r>
            <a:r>
              <a:rPr sz="1300" b="1" spc="10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ensuring</a:t>
            </a:r>
            <a:r>
              <a:rPr sz="1300" b="1" spc="10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maximum coverage</a:t>
            </a:r>
            <a:r>
              <a:rPr sz="1300" b="1" spc="-5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and</a:t>
            </a:r>
            <a:r>
              <a:rPr sz="1300" b="1" spc="-5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minimizing</a:t>
            </a:r>
            <a:r>
              <a:rPr sz="1300" b="1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risk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undiscovered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bugs.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11239" y="2888623"/>
            <a:ext cx="4871085" cy="918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105"/>
              </a:spcBef>
            </a:pPr>
            <a:r>
              <a:rPr sz="1300" b="1" dirty="0">
                <a:latin typeface="Calibri"/>
                <a:cs typeface="Calibri"/>
              </a:rPr>
              <a:t>3.</a:t>
            </a:r>
            <a:r>
              <a:rPr sz="1300" b="1" spc="459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Knowledge</a:t>
            </a:r>
            <a:r>
              <a:rPr sz="1300" b="1" spc="140" dirty="0">
                <a:latin typeface="Calibri"/>
                <a:cs typeface="Calibri"/>
              </a:rPr>
              <a:t>  </a:t>
            </a:r>
            <a:r>
              <a:rPr sz="1300" b="1" dirty="0">
                <a:latin typeface="Calibri"/>
                <a:cs typeface="Calibri"/>
              </a:rPr>
              <a:t>Sharing:</a:t>
            </a:r>
            <a:r>
              <a:rPr sz="1300" b="1" spc="145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45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review</a:t>
            </a:r>
            <a:r>
              <a:rPr sz="1300" spc="150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process</a:t>
            </a:r>
            <a:r>
              <a:rPr sz="1300" spc="140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facilitates</a:t>
            </a:r>
            <a:r>
              <a:rPr sz="1300" spc="145" dirty="0">
                <a:latin typeface="Calibri"/>
                <a:cs typeface="Calibri"/>
              </a:rPr>
              <a:t>  </a:t>
            </a:r>
            <a:r>
              <a:rPr sz="1300" spc="-10" dirty="0">
                <a:latin typeface="Calibri"/>
                <a:cs typeface="Calibri"/>
              </a:rPr>
              <a:t>knowledge </a:t>
            </a:r>
            <a:r>
              <a:rPr sz="1300" dirty="0">
                <a:latin typeface="Calibri"/>
                <a:cs typeface="Calibri"/>
              </a:rPr>
              <a:t>sharing</a:t>
            </a:r>
            <a:r>
              <a:rPr sz="1300" spc="1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among</a:t>
            </a:r>
            <a:r>
              <a:rPr sz="1300" spc="1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team</a:t>
            </a:r>
            <a:r>
              <a:rPr sz="1300" spc="1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members,</a:t>
            </a:r>
            <a:r>
              <a:rPr sz="1300" spc="16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encouragement</a:t>
            </a:r>
            <a:r>
              <a:rPr sz="1300" b="1" spc="15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collaboration</a:t>
            </a:r>
            <a:r>
              <a:rPr sz="1300" b="1" spc="16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and </a:t>
            </a:r>
            <a:r>
              <a:rPr sz="1300" dirty="0">
                <a:latin typeface="Calibri"/>
                <a:cs typeface="Calibri"/>
              </a:rPr>
              <a:t>enabling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</a:t>
            </a:r>
            <a:r>
              <a:rPr sz="1300" b="1" spc="-10" dirty="0">
                <a:latin typeface="Calibri"/>
                <a:cs typeface="Calibri"/>
              </a:rPr>
              <a:t>transfer</a:t>
            </a:r>
            <a:r>
              <a:rPr sz="1300" b="1" spc="-6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of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domain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expertise</a:t>
            </a:r>
            <a:r>
              <a:rPr sz="1300" spc="-10" dirty="0">
                <a:latin typeface="Calibri"/>
                <a:cs typeface="Calibri"/>
              </a:rPr>
              <a:t>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11239" y="3905732"/>
            <a:ext cx="4868545" cy="919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114"/>
              </a:spcBef>
            </a:pPr>
            <a:r>
              <a:rPr sz="1300" b="1" dirty="0">
                <a:latin typeface="Calibri"/>
                <a:cs typeface="Calibri"/>
              </a:rPr>
              <a:t>4.</a:t>
            </a:r>
            <a:r>
              <a:rPr sz="1300" b="1" spc="45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Consistency</a:t>
            </a:r>
            <a:r>
              <a:rPr sz="1300" b="1" spc="27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and</a:t>
            </a:r>
            <a:r>
              <a:rPr sz="1300" b="1" spc="26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Standardization:</a:t>
            </a:r>
            <a:r>
              <a:rPr sz="1300" b="1" spc="2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By</a:t>
            </a:r>
            <a:r>
              <a:rPr sz="1300" spc="2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reviewing</a:t>
            </a:r>
            <a:r>
              <a:rPr sz="1300" spc="2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25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cases,</a:t>
            </a:r>
            <a:r>
              <a:rPr sz="1300" spc="27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teams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1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ensure</a:t>
            </a:r>
            <a:r>
              <a:rPr sz="1300" spc="2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2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testing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practices</a:t>
            </a:r>
            <a:r>
              <a:rPr sz="1300" spc="229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follow</a:t>
            </a:r>
            <a:r>
              <a:rPr sz="1300" b="1" spc="19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to</a:t>
            </a:r>
            <a:r>
              <a:rPr sz="1300" b="1" spc="229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established</a:t>
            </a:r>
            <a:r>
              <a:rPr sz="1300" b="1" spc="204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standards </a:t>
            </a:r>
            <a:r>
              <a:rPr sz="1300" b="1" dirty="0">
                <a:latin typeface="Calibri"/>
                <a:cs typeface="Calibri"/>
              </a:rPr>
              <a:t>and</a:t>
            </a:r>
            <a:r>
              <a:rPr sz="1300" b="1" spc="-6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guidelines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-10" dirty="0">
                <a:latin typeface="Calibri"/>
                <a:cs typeface="Calibri"/>
              </a:rPr>
              <a:t> promoting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consistency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across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testing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process.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11239" y="4931667"/>
            <a:ext cx="4871085" cy="91566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80"/>
              </a:spcBef>
            </a:pPr>
            <a:r>
              <a:rPr sz="1300" b="1" dirty="0">
                <a:latin typeface="Calibri"/>
                <a:cs typeface="Calibri"/>
              </a:rPr>
              <a:t>5.</a:t>
            </a:r>
            <a:r>
              <a:rPr sz="1300" b="1" spc="45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Early</a:t>
            </a:r>
            <a:r>
              <a:rPr sz="1300" b="1" spc="40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Issue</a:t>
            </a:r>
            <a:r>
              <a:rPr sz="1300" b="1" spc="40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Identification:</a:t>
            </a:r>
            <a:r>
              <a:rPr sz="1300" b="1" spc="4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Reviewing</a:t>
            </a:r>
            <a:r>
              <a:rPr sz="1300" spc="4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4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cases</a:t>
            </a:r>
            <a:r>
              <a:rPr sz="1300" spc="3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uncovers</a:t>
            </a:r>
            <a:r>
              <a:rPr sz="1300" spc="4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issues </a:t>
            </a:r>
            <a:r>
              <a:rPr sz="1300" dirty="0">
                <a:latin typeface="Calibri"/>
                <a:cs typeface="Calibri"/>
              </a:rPr>
              <a:t>before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actual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execution,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saving</a:t>
            </a:r>
            <a:r>
              <a:rPr sz="1300" b="1" spc="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time</a:t>
            </a:r>
            <a:r>
              <a:rPr sz="1300" b="1" spc="4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and</a:t>
            </a:r>
            <a:r>
              <a:rPr sz="1300" b="1" spc="4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effort</a:t>
            </a:r>
            <a:r>
              <a:rPr sz="1300" b="1" spc="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in</a:t>
            </a:r>
            <a:r>
              <a:rPr sz="1300" b="1" spc="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the</a:t>
            </a:r>
            <a:r>
              <a:rPr sz="1300" b="1" spc="6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long</a:t>
            </a:r>
            <a:r>
              <a:rPr sz="1300" b="1" spc="5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run</a:t>
            </a:r>
            <a:r>
              <a:rPr sz="1300" b="1" spc="5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and </a:t>
            </a:r>
            <a:r>
              <a:rPr sz="1300" dirty="0">
                <a:latin typeface="Calibri"/>
                <a:cs typeface="Calibri"/>
              </a:rPr>
              <a:t>reducing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probability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critical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bugs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reaching </a:t>
            </a:r>
            <a:r>
              <a:rPr sz="1300" spc="-10" dirty="0">
                <a:latin typeface="Calibri"/>
                <a:cs typeface="Calibri"/>
              </a:rPr>
              <a:t>production.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3625"/>
            <a:ext cx="5025390" cy="1451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Assignment</a:t>
            </a:r>
            <a:r>
              <a:rPr sz="14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50200"/>
              </a:lnSpc>
              <a:spcBef>
                <a:spcPts val="980"/>
              </a:spcBef>
            </a:pP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Q1:What</a:t>
            </a:r>
            <a:r>
              <a:rPr sz="14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14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4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Disadvantages</a:t>
            </a:r>
            <a:r>
              <a:rPr sz="1400" b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400" b="1" spc="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4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Test</a:t>
            </a:r>
            <a:r>
              <a:rPr sz="1400" b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Case</a:t>
            </a:r>
            <a:r>
              <a:rPr sz="14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Review</a:t>
            </a:r>
            <a:r>
              <a:rPr sz="1400" b="1" spc="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Process</a:t>
            </a:r>
            <a:r>
              <a:rPr sz="14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Software</a:t>
            </a:r>
            <a:r>
              <a:rPr sz="1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Testing?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Q2:</a:t>
            </a:r>
            <a:r>
              <a:rPr sz="1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1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bug?</a:t>
            </a: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Write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 example</a:t>
            </a:r>
            <a:r>
              <a:rPr sz="1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bug</a:t>
            </a:r>
            <a:r>
              <a:rPr sz="1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report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912" y="456387"/>
            <a:ext cx="2323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600A38"/>
                </a:solidFill>
              </a:rPr>
              <a:t>Test</a:t>
            </a:r>
            <a:r>
              <a:rPr sz="1800" spc="-55" dirty="0">
                <a:solidFill>
                  <a:srgbClr val="600A38"/>
                </a:solidFill>
              </a:rPr>
              <a:t> </a:t>
            </a:r>
            <a:r>
              <a:rPr sz="1800" dirty="0">
                <a:solidFill>
                  <a:srgbClr val="600A38"/>
                </a:solidFill>
              </a:rPr>
              <a:t>case</a:t>
            </a:r>
            <a:r>
              <a:rPr sz="1800" spc="-55" dirty="0">
                <a:solidFill>
                  <a:srgbClr val="600A38"/>
                </a:solidFill>
              </a:rPr>
              <a:t> </a:t>
            </a:r>
            <a:r>
              <a:rPr sz="1800" dirty="0">
                <a:solidFill>
                  <a:srgbClr val="600A38"/>
                </a:solidFill>
              </a:rPr>
              <a:t>review</a:t>
            </a:r>
            <a:r>
              <a:rPr sz="1800" spc="-50" dirty="0">
                <a:solidFill>
                  <a:srgbClr val="600A38"/>
                </a:solidFill>
              </a:rPr>
              <a:t> </a:t>
            </a:r>
            <a:r>
              <a:rPr sz="1800" spc="-10" dirty="0">
                <a:solidFill>
                  <a:srgbClr val="600A38"/>
                </a:solidFill>
              </a:rPr>
              <a:t>process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692912" y="827201"/>
            <a:ext cx="5023485" cy="3929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When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engineer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writes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case,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he/she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skip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some 	</a:t>
            </a:r>
            <a:r>
              <a:rPr sz="1400" b="1" dirty="0">
                <a:latin typeface="Calibri"/>
                <a:cs typeface="Calibri"/>
              </a:rPr>
              <a:t>scenarios,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inputs</a:t>
            </a:r>
            <a:r>
              <a:rPr sz="1400" b="1" spc="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writes</a:t>
            </a:r>
            <a:r>
              <a:rPr sz="1400" b="1" spc="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wrong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navigation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steps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may 	</a:t>
            </a:r>
            <a:r>
              <a:rPr sz="1400" spc="-10" dirty="0">
                <a:latin typeface="Calibri"/>
                <a:cs typeface="Calibri"/>
              </a:rPr>
              <a:t>affect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entire test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process.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To</a:t>
            </a:r>
            <a:r>
              <a:rPr sz="1400" spc="3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avoid</a:t>
            </a:r>
            <a:r>
              <a:rPr sz="1400" spc="3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this,</a:t>
            </a:r>
            <a:r>
              <a:rPr sz="1400" spc="3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3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3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3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3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round</a:t>
            </a:r>
            <a:r>
              <a:rPr sz="1400" spc="3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3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</a:t>
            </a:r>
            <a:r>
              <a:rPr sz="1400" spc="3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3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approval</a:t>
            </a:r>
            <a:endParaRPr sz="1400">
              <a:latin typeface="Calibri"/>
              <a:cs typeface="Calibri"/>
            </a:endParaRPr>
          </a:p>
          <a:p>
            <a:pPr marL="241300" algn="just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Calibri"/>
                <a:cs typeface="Calibri"/>
              </a:rPr>
              <a:t>process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starting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execution.</a:t>
            </a:r>
            <a:endParaRPr sz="14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If</a:t>
            </a:r>
            <a:r>
              <a:rPr sz="1400" spc="48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4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don't</a:t>
            </a:r>
            <a:r>
              <a:rPr sz="1400" spc="4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go</a:t>
            </a:r>
            <a:r>
              <a:rPr sz="1400" spc="4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4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8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</a:t>
            </a:r>
            <a:r>
              <a:rPr sz="1400" spc="4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process</a:t>
            </a:r>
            <a:r>
              <a:rPr sz="1400" b="1" dirty="0">
                <a:latin typeface="Calibri"/>
                <a:cs typeface="Calibri"/>
              </a:rPr>
              <a:t>,</a:t>
            </a:r>
            <a:r>
              <a:rPr sz="1400" b="1" spc="484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we</a:t>
            </a:r>
            <a:r>
              <a:rPr sz="1400" b="1" spc="4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miss</a:t>
            </a:r>
            <a:r>
              <a:rPr sz="1400" b="1" spc="4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out</a:t>
            </a:r>
            <a:r>
              <a:rPr sz="1400" b="1" spc="48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some 	</a:t>
            </a:r>
            <a:r>
              <a:rPr sz="1400" b="1" dirty="0">
                <a:latin typeface="Calibri"/>
                <a:cs typeface="Calibri"/>
              </a:rPr>
              <a:t>scenarios,</a:t>
            </a:r>
            <a:r>
              <a:rPr sz="1400" b="1" spc="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accuracy</a:t>
            </a:r>
            <a:r>
              <a:rPr sz="1400" b="1" spc="9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won't</a:t>
            </a:r>
            <a:r>
              <a:rPr sz="1400" b="1" spc="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8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there,</a:t>
            </a:r>
            <a:r>
              <a:rPr sz="1400" b="1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engineer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won't 	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0" dirty="0">
                <a:latin typeface="Calibri"/>
                <a:cs typeface="Calibri"/>
              </a:rPr>
              <a:t> serious.</a:t>
            </a:r>
            <a:endParaRPr sz="14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Once the author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finishes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writing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needs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sent 	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other</a:t>
            </a:r>
            <a:r>
              <a:rPr sz="1400" spc="1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engineer</a:t>
            </a:r>
            <a:r>
              <a:rPr sz="1400" spc="1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known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reviewer</a:t>
            </a:r>
            <a:r>
              <a:rPr sz="1400" b="1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 	process.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464" y="535561"/>
            <a:ext cx="5023485" cy="20726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6350" indent="-227329" algn="just">
              <a:lnSpc>
                <a:spcPct val="1501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reviewer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opens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test</a:t>
            </a:r>
            <a:r>
              <a:rPr sz="1400" u="sng" spc="1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 </a:t>
            </a: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case</a:t>
            </a:r>
            <a:r>
              <a:rPr sz="1400" spc="145" dirty="0">
                <a:solidFill>
                  <a:srgbClr val="0462C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corresponding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checks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correctness</a:t>
            </a:r>
            <a:r>
              <a:rPr sz="1400" b="1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b="1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case,</a:t>
            </a:r>
            <a:r>
              <a:rPr sz="1400" b="1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proper 	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flow,</a:t>
            </a:r>
            <a:r>
              <a:rPr sz="1400" b="1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maximum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coverage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During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process,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reviewer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found</a:t>
            </a:r>
            <a:r>
              <a:rPr sz="1400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any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mistake,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he/she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writes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separate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document,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known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Review</a:t>
            </a:r>
            <a:r>
              <a:rPr sz="1400" b="1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document</a:t>
            </a:r>
            <a:r>
              <a:rPr sz="14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sends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back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author.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3240" y="2923032"/>
            <a:ext cx="3779520" cy="29047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5726"/>
            <a:ext cx="502348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author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goes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400" spc="3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comments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starts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doing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changes</a:t>
            </a:r>
            <a:r>
              <a:rPr sz="1400" b="1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b="1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necessary,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send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back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once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again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review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process.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540941"/>
            <a:ext cx="50222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correction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process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continue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until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both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authors,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reviewer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satisfy.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2417140"/>
            <a:ext cx="501713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Once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successful,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reviewer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sends</a:t>
            </a:r>
            <a:r>
              <a:rPr sz="1400" spc="3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3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back</a:t>
            </a:r>
            <a:r>
              <a:rPr sz="1400" spc="3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1816" y="2737866"/>
            <a:ext cx="31311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lead</a:t>
            </a:r>
            <a:r>
              <a:rPr sz="14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final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approval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process.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3078276"/>
            <a:ext cx="502602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During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approval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process,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Team</a:t>
            </a:r>
            <a:r>
              <a:rPr sz="1400" b="1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leads</a:t>
            </a:r>
            <a:r>
              <a:rPr sz="1400" b="1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always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kept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loop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author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reviewer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serious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their 	jobs.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912" y="4163237"/>
            <a:ext cx="5024120" cy="98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cases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written,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review,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approved,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be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stored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centralized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location,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known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Case 	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Repository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1402" y="549351"/>
            <a:ext cx="15735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30" dirty="0">
                <a:solidFill>
                  <a:srgbClr val="CC3399"/>
                </a:solidFill>
                <a:latin typeface="Calibri"/>
                <a:cs typeface="Calibri"/>
              </a:rPr>
              <a:t>Test</a:t>
            </a:r>
            <a:r>
              <a:rPr sz="1400" b="1" spc="-20" dirty="0">
                <a:solidFill>
                  <a:srgbClr val="CC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CC3399"/>
                </a:solidFill>
                <a:latin typeface="Calibri"/>
                <a:cs typeface="Calibri"/>
              </a:rPr>
              <a:t>Case</a:t>
            </a:r>
            <a:r>
              <a:rPr sz="1400" b="1" spc="-40" dirty="0">
                <a:solidFill>
                  <a:srgbClr val="CC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CC3399"/>
                </a:solidFill>
                <a:latin typeface="Calibri"/>
                <a:cs typeface="Calibri"/>
              </a:rPr>
              <a:t>Repository: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1402" y="853980"/>
            <a:ext cx="5022215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repository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centralized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location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baseline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cases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(written,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review,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approved)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stored.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1402" y="1621713"/>
            <a:ext cx="502348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spc="3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400" spc="2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gives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requirements,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starts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developing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modules,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write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test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cases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according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1402" y="2818637"/>
            <a:ext cx="47504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repository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is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store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approved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test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cases.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1402" y="3155062"/>
            <a:ext cx="502221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Any</a:t>
            </a:r>
            <a:r>
              <a:rPr sz="1400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3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wants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application,</a:t>
            </a:r>
            <a:r>
              <a:rPr sz="1400" spc="3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400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he/she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needs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access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only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repository.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1402" y="3924350"/>
            <a:ext cx="50222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any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case,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drop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them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repository.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3625"/>
            <a:ext cx="47383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For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every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release,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maintain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different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repository.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900353"/>
            <a:ext cx="5022215" cy="98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Once</a:t>
            </a:r>
            <a:r>
              <a:rPr sz="1400" spc="3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3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cases</a:t>
            </a:r>
            <a:r>
              <a:rPr sz="1400" spc="3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3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baselined</a:t>
            </a:r>
            <a:r>
              <a:rPr sz="1400" spc="3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3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stored</a:t>
            </a:r>
            <a:r>
              <a:rPr sz="1400" spc="3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3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3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case 	</a:t>
            </a:r>
            <a:r>
              <a:rPr sz="1400" dirty="0">
                <a:latin typeface="Calibri"/>
                <a:cs typeface="Calibri"/>
              </a:rPr>
              <a:t>repository,</a:t>
            </a:r>
            <a:r>
              <a:rPr sz="1400" spc="12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they</a:t>
            </a:r>
            <a:r>
              <a:rPr sz="1400" spc="12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cannot</a:t>
            </a:r>
            <a:r>
              <a:rPr sz="1400" spc="12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12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edited</a:t>
            </a:r>
            <a:r>
              <a:rPr sz="1400" spc="114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13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changed</a:t>
            </a:r>
            <a:r>
              <a:rPr sz="1400" spc="114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without</a:t>
            </a:r>
            <a:r>
              <a:rPr sz="1400" spc="114" dirty="0">
                <a:latin typeface="Calibri"/>
                <a:cs typeface="Calibri"/>
              </a:rPr>
              <a:t>  </a:t>
            </a:r>
            <a:r>
              <a:rPr sz="1400" spc="-25" dirty="0">
                <a:latin typeface="Calibri"/>
                <a:cs typeface="Calibri"/>
              </a:rPr>
              <a:t>the 	</a:t>
            </a:r>
            <a:r>
              <a:rPr sz="1400" dirty="0">
                <a:latin typeface="Calibri"/>
                <a:cs typeface="Calibri"/>
              </a:rPr>
              <a:t>permission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lead.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989996"/>
            <a:ext cx="502158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testing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always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has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complete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back-</a:t>
            </a:r>
            <a:r>
              <a:rPr sz="1400" dirty="0">
                <a:latin typeface="Calibri"/>
                <a:cs typeface="Calibri"/>
              </a:rPr>
              <a:t>up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case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alibri"/>
                <a:cs typeface="Calibri"/>
              </a:rPr>
              <a:t>repository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crash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happened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affecting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2777490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Arial MT"/>
                <a:cs typeface="Arial MT"/>
              </a:rPr>
              <a:t>•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643839"/>
            <a:ext cx="115125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Review</a:t>
            </a:r>
            <a:r>
              <a:rPr sz="1400" b="1" spc="-2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Process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981126"/>
            <a:ext cx="502602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2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While</a:t>
            </a:r>
            <a:r>
              <a:rPr sz="1400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reviewing,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reviewer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checks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400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aspect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in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test</a:t>
            </a:r>
            <a:r>
              <a:rPr sz="14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cases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1857882"/>
            <a:ext cx="7004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Template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2464" y="2198784"/>
            <a:ext cx="502031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reviewer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checks whether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template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per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requirements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product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not.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2464" y="3071622"/>
            <a:ext cx="3578860" cy="2028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Header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header,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check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aspects: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All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captured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not.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All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relevant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not.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All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attributes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filled 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not.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078" y="3184093"/>
            <a:ext cx="3653536" cy="23791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8579"/>
            <a:ext cx="39941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Body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786130"/>
            <a:ext cx="48748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body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case,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check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following aspects: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093139"/>
            <a:ext cx="50228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should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prepared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should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take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minimum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time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execution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process.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1969388"/>
            <a:ext cx="3961129" cy="20243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possible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scenarios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covered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not.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333333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Look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flow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including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maximum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Coverage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333333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design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technique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applied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not.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333333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should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simple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understand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333333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Proper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navigation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written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not.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535561"/>
            <a:ext cx="501967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Once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reviewed,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review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comments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sent</a:t>
            </a:r>
            <a:r>
              <a:rPr sz="1400" b="1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b="1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review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template.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7544" y="1716023"/>
            <a:ext cx="4788408" cy="23835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8579"/>
            <a:ext cx="215265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35" dirty="0">
                <a:solidFill>
                  <a:srgbClr val="600A38"/>
                </a:solidFill>
                <a:latin typeface="Calibri"/>
                <a:cs typeface="Calibri"/>
              </a:rPr>
              <a:t>Text</a:t>
            </a:r>
            <a:r>
              <a:rPr sz="1400" b="1" spc="-4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Execution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Report</a:t>
            </a:r>
            <a:r>
              <a:rPr sz="1400" b="1" spc="-3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[Excel]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772338"/>
            <a:ext cx="5023485" cy="1755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2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final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document,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prepared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lead</a:t>
            </a:r>
            <a:r>
              <a:rPr sz="1400" b="1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when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entire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testing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process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completed.</a:t>
            </a:r>
            <a:endParaRPr sz="14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execution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defined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stability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application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contained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information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like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number</a:t>
            </a:r>
            <a:r>
              <a:rPr sz="1400" b="1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b="1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cases</a:t>
            </a:r>
            <a:r>
              <a:rPr sz="1400" b="1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written, 	executed,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pass,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fail,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their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percentage.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2630456"/>
            <a:ext cx="502856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080" indent="-227329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execution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final</a:t>
            </a:r>
            <a:r>
              <a:rPr sz="1400" b="1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summary</a:t>
            </a:r>
            <a:r>
              <a:rPr sz="1400" b="1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report</a:t>
            </a:r>
            <a:r>
              <a:rPr sz="1400" b="1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based</a:t>
            </a:r>
            <a:r>
              <a:rPr sz="1400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on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quality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defined,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 helps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deciding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handed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over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 customer 	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not.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4036092"/>
            <a:ext cx="502158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Every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module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separate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spreadsheet</a:t>
            </a:r>
            <a:r>
              <a:rPr sz="1400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their</a:t>
            </a:r>
            <a:r>
              <a:rPr sz="1400" spc="3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respective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module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4442" y="388365"/>
            <a:ext cx="2349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Calibri"/>
                <a:cs typeface="Calibri"/>
              </a:rPr>
              <a:t>Ex: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4442" y="3571066"/>
            <a:ext cx="5020310" cy="57531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Let</a:t>
            </a:r>
            <a:r>
              <a:rPr sz="12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see</a:t>
            </a:r>
            <a:r>
              <a:rPr sz="12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sz="12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example</a:t>
            </a:r>
            <a:r>
              <a:rPr sz="12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2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2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200" spc="-10" dirty="0">
                <a:solidFill>
                  <a:srgbClr val="333333"/>
                </a:solidFill>
                <a:latin typeface="Calibri"/>
                <a:cs typeface="Calibri"/>
              </a:rPr>
              <a:t> execution</a:t>
            </a:r>
            <a:r>
              <a:rPr sz="12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report</a:t>
            </a:r>
            <a:r>
              <a:rPr sz="12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12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2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sz="12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12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libri"/>
                <a:cs typeface="Calibri"/>
              </a:rPr>
              <a:t>modules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solidFill>
                  <a:srgbClr val="333333"/>
                </a:solidFill>
                <a:latin typeface="Calibri"/>
                <a:cs typeface="Calibri"/>
              </a:rPr>
              <a:t>such as</a:t>
            </a:r>
            <a:r>
              <a:rPr sz="12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Calibri"/>
                <a:cs typeface="Calibri"/>
              </a:rPr>
              <a:t>Sales,</a:t>
            </a:r>
            <a:r>
              <a:rPr sz="12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33333"/>
                </a:solidFill>
                <a:latin typeface="Calibri"/>
                <a:cs typeface="Calibri"/>
              </a:rPr>
              <a:t>Amount</a:t>
            </a:r>
            <a:r>
              <a:rPr sz="12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333333"/>
                </a:solidFill>
                <a:latin typeface="Calibri"/>
                <a:cs typeface="Calibri"/>
              </a:rPr>
              <a:t>transfer,</a:t>
            </a:r>
            <a:r>
              <a:rPr sz="12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333333"/>
                </a:solidFill>
                <a:latin typeface="Calibri"/>
                <a:cs typeface="Calibri"/>
              </a:rPr>
              <a:t>Tax,</a:t>
            </a:r>
            <a:r>
              <a:rPr sz="12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333333"/>
                </a:solidFill>
                <a:latin typeface="Calibri"/>
                <a:cs typeface="Calibri"/>
              </a:rPr>
              <a:t>Loan</a:t>
            </a:r>
            <a:r>
              <a:rPr sz="1200" spc="-2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0256" y="841247"/>
            <a:ext cx="4858511" cy="27249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8759" y="4383380"/>
            <a:ext cx="3836873" cy="17395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5726"/>
            <a:ext cx="5024755" cy="456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lead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made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report,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sends</a:t>
            </a:r>
            <a:r>
              <a:rPr sz="14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individual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features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he/she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tested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executed.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lead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sends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following: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latin typeface="Calibri"/>
                <a:cs typeface="Calibri"/>
              </a:rPr>
              <a:t>Development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Team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latin typeface="Calibri"/>
                <a:cs typeface="Calibri"/>
              </a:rPr>
              <a:t>Management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spc="-35" dirty="0">
                <a:latin typeface="Calibri"/>
                <a:cs typeface="Calibri"/>
              </a:rPr>
              <a:t>Test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manager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latin typeface="Calibri"/>
                <a:cs typeface="Calibri"/>
              </a:rPr>
              <a:t>Customer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1400" b="1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b="1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development</a:t>
            </a:r>
            <a:r>
              <a:rPr sz="1400" b="1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team</a:t>
            </a:r>
            <a:r>
              <a:rPr sz="1400" b="1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needs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list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failed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cases.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see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below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table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list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names,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related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status,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and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comments.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below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table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showing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amount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transfer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76746" y="509397"/>
            <a:ext cx="1308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Amount</a:t>
            </a:r>
            <a:r>
              <a:rPr sz="1400" b="1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Transfer: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9023" y="1002791"/>
            <a:ext cx="4751832" cy="19964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3625"/>
            <a:ext cx="14052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Traceability</a:t>
            </a:r>
            <a:r>
              <a:rPr sz="1400" b="1" spc="-5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Matrix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008633"/>
            <a:ext cx="50184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matrix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table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type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document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816" y="1329055"/>
            <a:ext cx="43383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development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software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trace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1668527"/>
            <a:ext cx="502475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both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forward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(from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Requirements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Design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Coding)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backward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(from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Coding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Requirements)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tracing.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2437943"/>
            <a:ext cx="5024120" cy="283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8255" indent="-22923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2794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	It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sz="1400" spc="2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known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Requirement</a:t>
            </a:r>
            <a:r>
              <a:rPr sz="1400" b="1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b="1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Matrix</a:t>
            </a:r>
            <a:r>
              <a:rPr sz="1400" b="1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(RTM)</a:t>
            </a:r>
            <a:r>
              <a:rPr sz="1400" b="1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or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Cross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Reference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Matrix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(CRM).</a:t>
            </a:r>
            <a:endParaRPr sz="1400">
              <a:latin typeface="Calibri"/>
              <a:cs typeface="Calibri"/>
            </a:endParaRPr>
          </a:p>
          <a:p>
            <a:pPr marL="239395" marR="5715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prepared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before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execution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process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make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sure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that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every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covered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form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we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don't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miss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out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any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testing.</a:t>
            </a:r>
            <a:endParaRPr sz="14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RTM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document,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map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requirements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and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corresponding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cases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ensure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written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cases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each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condition.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535561"/>
            <a:ext cx="502348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b="1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prepare</a:t>
            </a:r>
            <a:r>
              <a:rPr sz="140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RTM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their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respective</a:t>
            </a:r>
            <a:r>
              <a:rPr sz="1400" spc="2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assign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modules,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sent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Lead.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1301927"/>
            <a:ext cx="502348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Lead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go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repository</a:t>
            </a:r>
            <a:r>
              <a:rPr sz="14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check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whether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is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there</a:t>
            </a:r>
            <a:r>
              <a:rPr sz="14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finally</a:t>
            </a:r>
            <a:r>
              <a:rPr sz="14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Lead</a:t>
            </a:r>
            <a:r>
              <a:rPr sz="1400" b="1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consolidate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prepare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one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necessary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RTM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document.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2256" y="2557272"/>
            <a:ext cx="3048000" cy="31059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1823"/>
            <a:ext cx="5023485" cy="369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715" indent="-227329" algn="just">
              <a:lnSpc>
                <a:spcPct val="14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document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designed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make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sure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each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case,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written</a:t>
            </a:r>
            <a:r>
              <a:rPr sz="14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based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business 	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needs,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b="1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given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sz="14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client.</a:t>
            </a:r>
            <a:endParaRPr sz="14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14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  <a:tab pos="2794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	It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3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performed</a:t>
            </a:r>
            <a:r>
              <a:rPr sz="140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help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40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0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3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cases</a:t>
            </a:r>
            <a:r>
              <a:rPr sz="1400" spc="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3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any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</a:t>
            </a:r>
            <a:r>
              <a:rPr sz="1400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missing,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means</a:t>
            </a:r>
            <a:r>
              <a:rPr sz="14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not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written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particular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need,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specific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requirement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not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tested</a:t>
            </a:r>
            <a:r>
              <a:rPr sz="1400" b="1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may</a:t>
            </a:r>
            <a:r>
              <a:rPr sz="1400" b="1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some</a:t>
            </a:r>
            <a:r>
              <a:rPr sz="1400" b="1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bugs.</a:t>
            </a:r>
            <a:endParaRPr sz="1400">
              <a:latin typeface="Calibri"/>
              <a:cs typeface="Calibri"/>
            </a:endParaRPr>
          </a:p>
          <a:p>
            <a:pPr marL="239395" marR="6985" indent="-227329" algn="just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9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spc="18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04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written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make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sure</a:t>
            </a:r>
            <a:r>
              <a:rPr sz="1400" spc="20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8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entire 	requirement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covered.</a:t>
            </a:r>
            <a:endParaRPr sz="1400">
              <a:latin typeface="Calibri"/>
              <a:cs typeface="Calibri"/>
            </a:endParaRPr>
          </a:p>
          <a:p>
            <a:pPr marL="228600" marR="6985" indent="-228600" algn="r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286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observe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below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image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number</a:t>
            </a:r>
            <a:endParaRPr sz="1400">
              <a:latin typeface="Calibri"/>
              <a:cs typeface="Calibri"/>
            </a:endParaRPr>
          </a:p>
          <a:p>
            <a:pPr marR="10795" algn="r">
              <a:lnSpc>
                <a:spcPct val="100000"/>
              </a:lnSpc>
              <a:spcBef>
                <a:spcPts val="675"/>
              </a:spcBef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2</a:t>
            </a:r>
            <a:r>
              <a:rPr sz="1400" b="1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b="1" spc="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4</a:t>
            </a:r>
            <a:r>
              <a:rPr sz="1400" b="1" spc="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3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names</a:t>
            </a:r>
            <a:r>
              <a:rPr sz="1400" spc="3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3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mentioned</a:t>
            </a:r>
            <a:r>
              <a:rPr sz="140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that's</a:t>
            </a:r>
            <a:r>
              <a:rPr sz="1400" spc="3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why</a:t>
            </a:r>
            <a:r>
              <a:rPr sz="140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1816" y="4129709"/>
            <a:ext cx="4792980" cy="62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200"/>
              </a:lnSpc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highlighted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them,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easily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understand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have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write 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them.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4852594"/>
            <a:ext cx="5022215" cy="922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Generally,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like</a:t>
            </a:r>
            <a:r>
              <a:rPr sz="1400" spc="20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20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worksheet</a:t>
            </a:r>
            <a:r>
              <a:rPr sz="1400" spc="20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document,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contains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a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table,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but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there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2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many</a:t>
            </a:r>
            <a:r>
              <a:rPr sz="14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user-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defined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templates</a:t>
            </a:r>
            <a:r>
              <a:rPr sz="14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matrix.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4183884"/>
            <a:ext cx="4870450" cy="9220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 algn="just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Each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matrix is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connected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its 	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respective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tests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carried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out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sequentially 	according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specific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271" y="591312"/>
            <a:ext cx="3785616" cy="3614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3625"/>
            <a:ext cx="12763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600A38"/>
                </a:solidFill>
                <a:latin typeface="Arial"/>
                <a:cs typeface="Arial"/>
              </a:rPr>
              <a:t>RTM</a:t>
            </a:r>
            <a:r>
              <a:rPr sz="1400" b="1" spc="-3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Arial"/>
                <a:cs typeface="Arial"/>
              </a:rPr>
              <a:t>Template: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900353"/>
            <a:ext cx="502602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2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Below</a:t>
            </a:r>
            <a:r>
              <a:rPr sz="1400" b="1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is</a:t>
            </a:r>
            <a:r>
              <a:rPr sz="140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400" b="1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sample</a:t>
            </a:r>
            <a:r>
              <a:rPr sz="1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template</a:t>
            </a:r>
            <a:r>
              <a:rPr sz="1400" b="1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40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requirement</a:t>
            </a:r>
            <a:r>
              <a:rPr sz="1400" b="1" spc="-10" dirty="0">
                <a:solidFill>
                  <a:srgbClr val="333333"/>
                </a:solidFill>
                <a:latin typeface="Arial"/>
                <a:cs typeface="Arial"/>
              </a:rPr>
              <a:t> traceability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matrix</a:t>
            </a:r>
            <a:r>
              <a:rPr sz="1400" b="1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Arial"/>
                <a:cs typeface="Arial"/>
              </a:rPr>
              <a:t>(RTM):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3551935"/>
            <a:ext cx="19215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Example</a:t>
            </a:r>
            <a:r>
              <a:rPr sz="1400" b="1" spc="-1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of</a:t>
            </a:r>
            <a:r>
              <a:rPr sz="1400" b="1" spc="-2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RTM</a:t>
            </a:r>
            <a:r>
              <a:rPr sz="1400" b="1" spc="-2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template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549351"/>
            <a:ext cx="20942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Goals</a:t>
            </a:r>
            <a:r>
              <a:rPr sz="1400" b="1" spc="-3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of</a:t>
            </a:r>
            <a:r>
              <a:rPr sz="1400" b="1" spc="-5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Traceability</a:t>
            </a:r>
            <a:r>
              <a:rPr sz="1400" b="1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Matrix: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853980"/>
            <a:ext cx="502285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3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helps</a:t>
            </a:r>
            <a:r>
              <a:rPr sz="1400" spc="3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3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tracing</a:t>
            </a:r>
            <a:r>
              <a:rPr sz="1400" spc="3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documents</a:t>
            </a:r>
            <a:r>
              <a:rPr sz="1400" spc="3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3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3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developed</a:t>
            </a:r>
            <a:r>
              <a:rPr sz="1400" spc="3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during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Calibri"/>
                <a:cs typeface="Calibri"/>
              </a:rPr>
              <a:t>various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phases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SDLC.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1621713"/>
            <a:ext cx="5020310" cy="1464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ensures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2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software</a:t>
            </a:r>
            <a:r>
              <a:rPr sz="1400" spc="25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completely</a:t>
            </a:r>
            <a:r>
              <a:rPr sz="1400" spc="2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meets</a:t>
            </a:r>
            <a:r>
              <a:rPr sz="1400" spc="2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2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customer's requirements.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helps in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detecting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root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cause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Types</a:t>
            </a:r>
            <a:r>
              <a:rPr sz="1400" b="1" spc="-4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of</a:t>
            </a:r>
            <a:r>
              <a:rPr sz="1400" b="1" spc="-4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Traceability</a:t>
            </a:r>
            <a:r>
              <a:rPr sz="1400" b="1" spc="-25" dirty="0">
                <a:solidFill>
                  <a:srgbClr val="600A38"/>
                </a:solidFill>
                <a:latin typeface="Calibri"/>
                <a:cs typeface="Calibri"/>
              </a:rPr>
              <a:t> Test</a:t>
            </a:r>
            <a:r>
              <a:rPr sz="1400" b="1" spc="-3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Matrix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3155062"/>
            <a:ext cx="5020945" cy="200850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matrix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classified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1400" spc="20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three</a:t>
            </a:r>
            <a:r>
              <a:rPr sz="140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types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follows: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b="1" spc="-10" dirty="0">
                <a:latin typeface="Calibri"/>
                <a:cs typeface="Calibri"/>
              </a:rPr>
              <a:t>Forward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traceability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b="1" spc="-10" dirty="0">
                <a:latin typeface="Calibri"/>
                <a:cs typeface="Calibri"/>
              </a:rPr>
              <a:t>Backward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reverse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traceability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b="1" spc="-10" dirty="0">
                <a:latin typeface="Calibri"/>
                <a:cs typeface="Calibri"/>
              </a:rPr>
              <a:t>Bi-directional</a:t>
            </a:r>
            <a:r>
              <a:rPr sz="1400" b="1" spc="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traceability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454" y="2023398"/>
            <a:ext cx="4343188" cy="12194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3995928"/>
            <a:ext cx="4392168" cy="23500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8579"/>
            <a:ext cx="150558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Forward traceability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772338"/>
            <a:ext cx="5024120" cy="98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forward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matrix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ensure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every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business's</a:t>
            </a:r>
            <a:r>
              <a:rPr sz="140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needs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requirements</a:t>
            </a:r>
            <a:r>
              <a:rPr sz="14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executed</a:t>
            </a:r>
            <a:r>
              <a:rPr sz="14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correctly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tested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rigorously.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969388"/>
            <a:ext cx="50222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main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objective</a:t>
            </a:r>
            <a:r>
              <a:rPr sz="1400" spc="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40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40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4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4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verify</a:t>
            </a:r>
            <a:r>
              <a:rPr sz="140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whether</a:t>
            </a:r>
            <a:r>
              <a:rPr sz="140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product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1816" y="2289429"/>
            <a:ext cx="33864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developments</a:t>
            </a:r>
            <a:r>
              <a:rPr sz="1400" b="1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going</a:t>
            </a:r>
            <a:r>
              <a:rPr sz="1400" b="1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right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direction.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2737866"/>
            <a:ext cx="50234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this,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requirements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mapped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forward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direction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1816" y="3057601"/>
            <a:ext cx="12496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cases.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549351"/>
            <a:ext cx="239585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Backward</a:t>
            </a:r>
            <a:r>
              <a:rPr sz="1400" b="1" spc="-4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or</a:t>
            </a:r>
            <a:r>
              <a:rPr sz="1400" b="1" spc="-5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reverse</a:t>
            </a:r>
            <a:r>
              <a:rPr sz="1400" b="1" spc="-2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traceability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2464" y="853980"/>
            <a:ext cx="502348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reverse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backward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check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are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increasing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space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product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enhancing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design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elements,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code,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other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things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mentioned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business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needs.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2464" y="2262791"/>
            <a:ext cx="502285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main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objective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existing</a:t>
            </a:r>
            <a:r>
              <a:rPr sz="1400" b="1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project</a:t>
            </a:r>
            <a:r>
              <a:rPr sz="1400" b="1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remains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correct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direction.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2464" y="3030524"/>
            <a:ext cx="502348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this,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requirements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mapped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backward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direction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cases.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632" y="3739896"/>
            <a:ext cx="2859023" cy="210311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9288" y="3806952"/>
            <a:ext cx="2859024" cy="20939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8579"/>
            <a:ext cx="188404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Bi-directional</a:t>
            </a:r>
            <a:r>
              <a:rPr sz="1400" b="1" spc="4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traceability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772338"/>
            <a:ext cx="5022215" cy="98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4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4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4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combination</a:t>
            </a:r>
            <a:r>
              <a:rPr sz="1400" spc="4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4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forwarding</a:t>
            </a:r>
            <a:r>
              <a:rPr sz="1400" spc="4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45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backward</a:t>
            </a:r>
            <a:r>
              <a:rPr sz="1400" spc="45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traceability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matrix,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make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sure that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business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needs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are 	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executed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cases.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861489"/>
            <a:ext cx="50203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sz="14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evaluates</a:t>
            </a:r>
            <a:r>
              <a:rPr sz="14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modification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</a:t>
            </a:r>
            <a:r>
              <a:rPr sz="1400" spc="2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is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occurring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due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bugs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application.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555447"/>
            <a:ext cx="157861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600A38"/>
                </a:solidFill>
                <a:latin typeface="Arial"/>
                <a:cs typeface="Arial"/>
              </a:rPr>
              <a:t>Advantage</a:t>
            </a:r>
            <a:r>
              <a:rPr sz="1400" b="1" spc="1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00A38"/>
                </a:solidFill>
                <a:latin typeface="Arial"/>
                <a:cs typeface="Arial"/>
              </a:rPr>
              <a:t>of</a:t>
            </a:r>
            <a:r>
              <a:rPr sz="1400" b="1" spc="-6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600A38"/>
                </a:solidFill>
                <a:latin typeface="Arial"/>
                <a:cs typeface="Arial"/>
              </a:rPr>
              <a:t>RTM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961389"/>
            <a:ext cx="46647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benefits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traceability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matrix: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1301927"/>
            <a:ext cx="50215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With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 help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RTM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document,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display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complete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execution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status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requirements.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2070277"/>
            <a:ext cx="50292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4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4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43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show</a:t>
            </a:r>
            <a:r>
              <a:rPr sz="1400" spc="4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59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missing</a:t>
            </a:r>
            <a:r>
              <a:rPr sz="1400" spc="4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requirements</a:t>
            </a:r>
            <a:r>
              <a:rPr sz="1400" spc="43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4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conflicts</a:t>
            </a:r>
            <a:r>
              <a:rPr sz="1400" spc="42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in </a:t>
            </a:r>
            <a:r>
              <a:rPr sz="1400" spc="-10" dirty="0">
                <a:latin typeface="Calibri"/>
                <a:cs typeface="Calibri"/>
              </a:rPr>
              <a:t>documents.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2464" y="2836197"/>
            <a:ext cx="5021580" cy="143383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In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this,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ensure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complete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coverage,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means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Calibri"/>
                <a:cs typeface="Calibri"/>
              </a:rPr>
              <a:t>all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modules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tested.</a:t>
            </a:r>
            <a:endParaRPr sz="1400">
              <a:latin typeface="Calibri"/>
              <a:cs typeface="Calibri"/>
            </a:endParaRPr>
          </a:p>
          <a:p>
            <a:pPr marL="241300" marR="5080" indent="-228600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consider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efforts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testing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teamwork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towards reworking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reconsidering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cases.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447" y="3044951"/>
            <a:ext cx="3810000" cy="25054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74675"/>
            <a:ext cx="203517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600A38"/>
                </a:solidFill>
                <a:latin typeface="Arial"/>
                <a:cs typeface="Arial"/>
              </a:rPr>
              <a:t>Bug</a:t>
            </a:r>
            <a:r>
              <a:rPr sz="1400" b="1" spc="-3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00A38"/>
                </a:solidFill>
                <a:latin typeface="Arial"/>
                <a:cs typeface="Arial"/>
              </a:rPr>
              <a:t>in</a:t>
            </a:r>
            <a:r>
              <a:rPr sz="1400" b="1" spc="-3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00A38"/>
                </a:solidFill>
                <a:latin typeface="Arial"/>
                <a:cs typeface="Arial"/>
              </a:rPr>
              <a:t>Software</a:t>
            </a:r>
            <a:r>
              <a:rPr sz="1400" b="1" spc="-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Arial"/>
                <a:cs typeface="Arial"/>
              </a:rPr>
              <a:t>Testing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880618"/>
            <a:ext cx="25158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What</a:t>
            </a:r>
            <a:r>
              <a:rPr sz="1400" b="1" spc="-1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is</a:t>
            </a:r>
            <a:r>
              <a:rPr sz="1400" b="1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a</a:t>
            </a:r>
            <a:r>
              <a:rPr sz="1400" b="1" spc="-3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bug</a:t>
            </a:r>
            <a:r>
              <a:rPr sz="1400" b="1" spc="-3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in</a:t>
            </a:r>
            <a:r>
              <a:rPr sz="1400" b="1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software</a:t>
            </a:r>
            <a:r>
              <a:rPr sz="1400" b="1" spc="-1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testing?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221156"/>
            <a:ext cx="50234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3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informal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name</a:t>
            </a:r>
            <a:r>
              <a:rPr sz="1400" spc="3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3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defects,</a:t>
            </a:r>
            <a:r>
              <a:rPr sz="1400" spc="3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means</a:t>
            </a:r>
            <a:r>
              <a:rPr sz="1400" spc="3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that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software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or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working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per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requirement.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1989996"/>
            <a:ext cx="5022215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software</a:t>
            </a:r>
            <a:r>
              <a:rPr sz="1400" u="sng" spc="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testing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,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software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issue,</a:t>
            </a:r>
            <a:r>
              <a:rPr sz="1400" b="1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error,</a:t>
            </a:r>
            <a:r>
              <a:rPr sz="1400" b="1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fault,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failure.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2754680"/>
            <a:ext cx="502285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occurred</a:t>
            </a:r>
            <a:r>
              <a:rPr sz="1400" spc="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developers</a:t>
            </a:r>
            <a:r>
              <a:rPr sz="140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made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any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mistake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error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while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developing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product.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555447"/>
            <a:ext cx="2637790" cy="517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600A38"/>
                </a:solidFill>
                <a:latin typeface="Arial"/>
                <a:cs typeface="Arial"/>
              </a:rPr>
              <a:t>Basic</a:t>
            </a:r>
            <a:r>
              <a:rPr sz="1400" b="1" spc="-4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00A38"/>
                </a:solidFill>
                <a:latin typeface="Arial"/>
                <a:cs typeface="Arial"/>
              </a:rPr>
              <a:t>terminology of</a:t>
            </a:r>
            <a:r>
              <a:rPr sz="1400" b="1" spc="-40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Arial"/>
                <a:cs typeface="Arial"/>
              </a:rPr>
              <a:t>defect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100" dirty="0">
                <a:solidFill>
                  <a:srgbClr val="333333"/>
                </a:solidFill>
                <a:latin typeface="Arial MT"/>
                <a:cs typeface="Arial MT"/>
              </a:rPr>
              <a:t>Let</a:t>
            </a:r>
            <a:r>
              <a:rPr sz="11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</a:rPr>
              <a:t>see</a:t>
            </a:r>
            <a:r>
              <a:rPr sz="11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</a:rPr>
              <a:t>different</a:t>
            </a:r>
            <a:r>
              <a:rPr sz="11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</a:rPr>
              <a:t>terminology</a:t>
            </a:r>
            <a:r>
              <a:rPr sz="11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11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Arial MT"/>
                <a:cs typeface="Arial MT"/>
              </a:rPr>
              <a:t>defect: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1156462"/>
            <a:ext cx="761365" cy="158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100" b="1" spc="-10" dirty="0">
                <a:latin typeface="Arial"/>
                <a:cs typeface="Arial"/>
              </a:rPr>
              <a:t>Defect</a:t>
            </a:r>
            <a:endParaRPr sz="11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</a:tabLst>
            </a:pPr>
            <a:r>
              <a:rPr sz="1100" b="1" spc="-25" dirty="0">
                <a:latin typeface="Arial"/>
                <a:cs typeface="Arial"/>
              </a:rPr>
              <a:t>Bug</a:t>
            </a:r>
            <a:endParaRPr sz="11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</a:tabLst>
            </a:pPr>
            <a:r>
              <a:rPr sz="1100" b="1" spc="-10" dirty="0">
                <a:latin typeface="Arial"/>
                <a:cs typeface="Arial"/>
              </a:rPr>
              <a:t>Error</a:t>
            </a:r>
            <a:endParaRPr sz="11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40665" algn="l"/>
              </a:tabLst>
            </a:pPr>
            <a:r>
              <a:rPr sz="1100" b="1" spc="-10" dirty="0">
                <a:latin typeface="Arial"/>
                <a:cs typeface="Arial"/>
              </a:rPr>
              <a:t>Issue</a:t>
            </a:r>
            <a:endParaRPr sz="11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sz="1100" b="1" spc="-10" dirty="0">
                <a:latin typeface="Arial"/>
                <a:cs typeface="Arial"/>
              </a:rPr>
              <a:t>Mistake</a:t>
            </a:r>
            <a:endParaRPr sz="11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</a:tabLst>
            </a:pPr>
            <a:r>
              <a:rPr sz="1100" b="1" spc="-10" dirty="0">
                <a:latin typeface="Arial"/>
                <a:cs typeface="Arial"/>
              </a:rPr>
              <a:t>Failure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5634" y="3723561"/>
            <a:ext cx="1733872" cy="21071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3847" y="2926079"/>
            <a:ext cx="4885944" cy="22341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48386"/>
            <a:ext cx="171068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600A38"/>
                </a:solidFill>
                <a:latin typeface="Calibri"/>
                <a:cs typeface="Calibri"/>
              </a:rPr>
              <a:t>Why</a:t>
            </a:r>
            <a:r>
              <a:rPr sz="1400" spc="-5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600A38"/>
                </a:solidFill>
                <a:latin typeface="Calibri"/>
                <a:cs typeface="Calibri"/>
              </a:rPr>
              <a:t>defect/bug</a:t>
            </a:r>
            <a:r>
              <a:rPr sz="1400" spc="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600A38"/>
                </a:solidFill>
                <a:latin typeface="Calibri"/>
                <a:cs typeface="Calibri"/>
              </a:rPr>
              <a:t>occur?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972057"/>
            <a:ext cx="4624705" cy="2369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software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testing,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 bug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occur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reasons: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latin typeface="Calibri"/>
                <a:cs typeface="Calibri"/>
              </a:rPr>
              <a:t>Wrong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coding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Missing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coding</a:t>
            </a:r>
            <a:endParaRPr sz="1400">
              <a:latin typeface="Calibri"/>
              <a:cs typeface="Calibri"/>
            </a:endParaRPr>
          </a:p>
          <a:p>
            <a:pPr marL="12700" marR="3474085" indent="228600">
              <a:lnSpc>
                <a:spcPts val="336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Extra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coding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Wrong</a:t>
            </a:r>
            <a:r>
              <a:rPr sz="1400" b="1" spc="-4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coding: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Wrong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coding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means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improper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implementation.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3441441"/>
            <a:ext cx="5022215" cy="122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080" indent="-227329" algn="just">
              <a:lnSpc>
                <a:spcPct val="14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b="1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example:</a:t>
            </a:r>
            <a:r>
              <a:rPr sz="14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Suppose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take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Gmail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we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click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 the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"Inbox"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link,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navigates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 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"Draft"</a:t>
            </a:r>
            <a:r>
              <a:rPr sz="1400" b="1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page,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this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happening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wrong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coding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done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developer,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that's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why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4851019"/>
            <a:ext cx="13652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600A4A"/>
                </a:solidFill>
                <a:latin typeface="Arial"/>
                <a:cs typeface="Arial"/>
              </a:rPr>
              <a:t>Missing</a:t>
            </a:r>
            <a:r>
              <a:rPr sz="1400" b="1" spc="-55" dirty="0">
                <a:solidFill>
                  <a:srgbClr val="600A4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Arial"/>
                <a:cs typeface="Arial"/>
              </a:rPr>
              <a:t>coding: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5191404"/>
            <a:ext cx="5022850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4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Here,</a:t>
            </a:r>
            <a:r>
              <a:rPr sz="1400" spc="3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missing</a:t>
            </a:r>
            <a:r>
              <a:rPr sz="1400" spc="3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coding</a:t>
            </a:r>
            <a:r>
              <a:rPr sz="1400" spc="3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means</a:t>
            </a:r>
            <a:r>
              <a:rPr sz="1400" spc="3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sz="1400" spc="3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3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developer</a:t>
            </a:r>
            <a:r>
              <a:rPr sz="1400" spc="3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may</a:t>
            </a:r>
            <a:r>
              <a:rPr sz="1400" spc="3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not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have</a:t>
            </a:r>
            <a:r>
              <a:rPr sz="1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developed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code</a:t>
            </a:r>
            <a:r>
              <a:rPr sz="1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only</a:t>
            </a:r>
            <a:r>
              <a:rPr sz="1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1400" spc="-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sz="1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particular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 feature.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541693"/>
            <a:ext cx="5023485" cy="922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5080" indent="-227329" algn="just">
              <a:lnSpc>
                <a:spcPct val="1401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400" b="1" spc="1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example:</a:t>
            </a:r>
            <a:r>
              <a:rPr sz="1400" b="1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if</a:t>
            </a:r>
            <a:r>
              <a:rPr sz="1400" spc="1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take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1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above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example</a:t>
            </a:r>
            <a:r>
              <a:rPr sz="1400" spc="1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400" spc="1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open</a:t>
            </a:r>
            <a:r>
              <a:rPr sz="1400" spc="1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the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inbox</a:t>
            </a:r>
            <a:r>
              <a:rPr sz="1400" spc="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link,</a:t>
            </a:r>
            <a:r>
              <a:rPr sz="1400" spc="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sz="1400" spc="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see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1400" spc="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not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there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only,</a:t>
            </a:r>
            <a:r>
              <a:rPr sz="1400" spc="9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which</a:t>
            </a:r>
            <a:r>
              <a:rPr sz="1400" spc="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means</a:t>
            </a:r>
            <a:r>
              <a:rPr sz="1400" spc="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the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sz="14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sz="1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not</a:t>
            </a:r>
            <a:r>
              <a:rPr sz="14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developed</a:t>
            </a:r>
            <a:r>
              <a:rPr sz="14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Arial MT"/>
                <a:cs typeface="Arial MT"/>
              </a:rPr>
              <a:t>only.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1650619"/>
            <a:ext cx="11518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600A4A"/>
                </a:solidFill>
                <a:latin typeface="Arial"/>
                <a:cs typeface="Arial"/>
              </a:rPr>
              <a:t>Extra</a:t>
            </a:r>
            <a:r>
              <a:rPr sz="1400" b="1" spc="-40" dirty="0">
                <a:solidFill>
                  <a:srgbClr val="600A4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Arial"/>
                <a:cs typeface="Arial"/>
              </a:rPr>
              <a:t>coding: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2464" y="1991030"/>
            <a:ext cx="502348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4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Here,</a:t>
            </a:r>
            <a:r>
              <a:rPr sz="1400" spc="1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extra</a:t>
            </a:r>
            <a:r>
              <a:rPr sz="1400" spc="1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coding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means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1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developers</a:t>
            </a:r>
            <a:r>
              <a:rPr sz="1400" spc="1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develop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the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extra</a:t>
            </a:r>
            <a:r>
              <a:rPr sz="1400" spc="4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features,</a:t>
            </a:r>
            <a:r>
              <a:rPr sz="1400" spc="49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which</a:t>
            </a:r>
            <a:r>
              <a:rPr sz="1400" spc="4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are</a:t>
            </a:r>
            <a:r>
              <a:rPr sz="1400" spc="45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not</a:t>
            </a:r>
            <a:r>
              <a:rPr sz="1400" spc="4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required</a:t>
            </a:r>
            <a:r>
              <a:rPr sz="1400" spc="4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according</a:t>
            </a:r>
            <a:r>
              <a:rPr sz="1400" spc="45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400" spc="4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the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client's</a:t>
            </a:r>
            <a:r>
              <a:rPr sz="1400" spc="-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requirements.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2464" y="3102101"/>
            <a:ext cx="11239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2464" y="3439464"/>
            <a:ext cx="502602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4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Suppose</a:t>
            </a:r>
            <a:r>
              <a:rPr sz="1400" spc="1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have</a:t>
            </a:r>
            <a:r>
              <a:rPr sz="1400" spc="1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one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application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form</a:t>
            </a:r>
            <a:r>
              <a:rPr sz="1400" spc="1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wherein</a:t>
            </a:r>
            <a:r>
              <a:rPr sz="1400" spc="1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1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Arial"/>
                <a:cs typeface="Arial"/>
              </a:rPr>
              <a:t>Name 	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field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, the</a:t>
            </a:r>
            <a:r>
              <a:rPr sz="14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First</a:t>
            </a:r>
            <a:r>
              <a:rPr sz="140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name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, and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Last</a:t>
            </a:r>
            <a:r>
              <a:rPr sz="1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name</a:t>
            </a:r>
            <a:r>
              <a:rPr sz="1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textbox</a:t>
            </a:r>
            <a:r>
              <a:rPr sz="14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are</a:t>
            </a:r>
            <a:r>
              <a:rPr sz="140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needed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to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develop</a:t>
            </a:r>
            <a:r>
              <a:rPr sz="1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according</a:t>
            </a:r>
            <a:r>
              <a:rPr sz="1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-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client's</a:t>
            </a:r>
            <a:r>
              <a:rPr sz="1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requirement.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2464" y="4463072"/>
            <a:ext cx="5023485" cy="923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5080" indent="-227329" algn="just">
              <a:lnSpc>
                <a:spcPct val="1401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But,</a:t>
            </a:r>
            <a:r>
              <a:rPr sz="14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developers</a:t>
            </a:r>
            <a:r>
              <a:rPr sz="14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sz="14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</a:t>
            </a:r>
            <a:r>
              <a:rPr sz="14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"Middle</a:t>
            </a:r>
            <a:r>
              <a:rPr sz="1400" b="1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name"</a:t>
            </a:r>
            <a:r>
              <a:rPr sz="1400" b="1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textbox,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needed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according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client's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requirements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we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 below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image: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8579"/>
            <a:ext cx="97853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Calibri"/>
                <a:cs typeface="Calibri"/>
              </a:rPr>
              <a:t>continued…..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3965988"/>
            <a:ext cx="502348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95"/>
              </a:spcBef>
            </a:pP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If</a:t>
            </a:r>
            <a:r>
              <a:rPr sz="1400" spc="55" dirty="0">
                <a:solidFill>
                  <a:srgbClr val="333333"/>
                </a:solidFill>
                <a:latin typeface="Arial MT"/>
                <a:cs typeface="Arial MT"/>
              </a:rPr>
              <a:t> 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sz="1400" spc="4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develop</a:t>
            </a:r>
            <a:r>
              <a:rPr sz="1400" spc="4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an</a:t>
            </a:r>
            <a:r>
              <a:rPr sz="1400" spc="4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extra</a:t>
            </a:r>
            <a:r>
              <a:rPr sz="1400" spc="4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sz="1400" spc="4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sz="1400" spc="49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sz="1400" spc="4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not</a:t>
            </a:r>
            <a:r>
              <a:rPr sz="1400" spc="4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needed</a:t>
            </a:r>
            <a:r>
              <a:rPr sz="1400" spc="4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sz="1400" spc="4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requirement,</a:t>
            </a:r>
            <a:r>
              <a:rPr sz="1400" spc="1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leads</a:t>
            </a:r>
            <a:r>
              <a:rPr sz="1400" spc="1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400" spc="1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unnecessary</a:t>
            </a:r>
            <a:r>
              <a:rPr sz="1400" spc="1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extra</a:t>
            </a:r>
            <a:r>
              <a:rPr sz="1400" spc="1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effort.</a:t>
            </a:r>
            <a:r>
              <a:rPr sz="1400" spc="1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1400" spc="1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might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also</a:t>
            </a:r>
            <a:r>
              <a:rPr sz="1400" spc="11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happen</a:t>
            </a:r>
            <a:r>
              <a:rPr sz="1400" spc="1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sz="1400" spc="11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adding</a:t>
            </a:r>
            <a:r>
              <a:rPr sz="1400" spc="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up</a:t>
            </a:r>
            <a:r>
              <a:rPr sz="1400" spc="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11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extra</a:t>
            </a:r>
            <a:r>
              <a:rPr sz="1400" spc="1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sz="1400" spc="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affects</a:t>
            </a:r>
            <a:r>
              <a:rPr sz="1400" spc="1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1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other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elements</a:t>
            </a:r>
            <a:r>
              <a:rPr sz="1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Arial MT"/>
                <a:cs typeface="Arial MT"/>
              </a:rPr>
              <a:t>too.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8463" y="591693"/>
            <a:ext cx="31559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CC3399"/>
                </a:solidFill>
                <a:latin typeface="Arial"/>
                <a:cs typeface="Arial"/>
              </a:rPr>
              <a:t>Lifecycle</a:t>
            </a:r>
            <a:r>
              <a:rPr sz="1400" b="1" spc="30" dirty="0">
                <a:solidFill>
                  <a:srgbClr val="CC339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CC3399"/>
                </a:solidFill>
                <a:latin typeface="Arial"/>
                <a:cs typeface="Arial"/>
              </a:rPr>
              <a:t>of</a:t>
            </a:r>
            <a:r>
              <a:rPr sz="1400" b="1" spc="-50" dirty="0">
                <a:solidFill>
                  <a:srgbClr val="CC339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CC3399"/>
                </a:solidFill>
                <a:latin typeface="Arial"/>
                <a:cs typeface="Arial"/>
              </a:rPr>
              <a:t>Bugs</a:t>
            </a:r>
            <a:r>
              <a:rPr sz="1400" b="1" spc="-55" dirty="0">
                <a:solidFill>
                  <a:srgbClr val="CC339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CC3399"/>
                </a:solidFill>
                <a:latin typeface="Arial"/>
                <a:cs typeface="Arial"/>
              </a:rPr>
              <a:t>in</a:t>
            </a:r>
            <a:r>
              <a:rPr sz="1400" b="1" spc="-55" dirty="0">
                <a:solidFill>
                  <a:srgbClr val="CC339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CC3399"/>
                </a:solidFill>
                <a:latin typeface="Arial"/>
                <a:cs typeface="Arial"/>
              </a:rPr>
              <a:t>Software</a:t>
            </a:r>
            <a:r>
              <a:rPr sz="1400" b="1" spc="-30" dirty="0">
                <a:solidFill>
                  <a:srgbClr val="CC339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CC3399"/>
                </a:solidFill>
                <a:latin typeface="Arial"/>
                <a:cs typeface="Arial"/>
              </a:rPr>
              <a:t>Testing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695" y="3762407"/>
            <a:ext cx="5023485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soon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finds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bug,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given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New,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indicates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just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found.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9695" y="4530140"/>
            <a:ext cx="502539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1400" b="1" spc="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1400" b="1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bug</a:t>
            </a:r>
            <a:r>
              <a:rPr sz="1400" b="1" spc="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needs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reported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concerned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b="1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by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changing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Assigned</a:t>
            </a:r>
            <a:r>
              <a:rPr sz="1400" b="1" spc="3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responsible</a:t>
            </a:r>
            <a:r>
              <a:rPr sz="1400" spc="3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person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should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take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care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bug.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999" y="1465890"/>
            <a:ext cx="4497384" cy="21879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8543" y="1088136"/>
            <a:ext cx="4248911" cy="25206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5726"/>
            <a:ext cx="467550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Now,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Developer</a:t>
            </a:r>
            <a:r>
              <a:rPr sz="1400" b="1" spc="1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first</a:t>
            </a:r>
            <a:r>
              <a:rPr sz="1400" spc="1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go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1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bug,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12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read</a:t>
            </a:r>
            <a:r>
              <a:rPr sz="1400" spc="1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all 	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navigation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steps</a:t>
            </a:r>
            <a:r>
              <a:rPr sz="1400" spc="1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1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decide</a:t>
            </a:r>
            <a:r>
              <a:rPr sz="1400" spc="1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whether</a:t>
            </a:r>
            <a:r>
              <a:rPr sz="1400" spc="1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1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1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valid</a:t>
            </a:r>
            <a:r>
              <a:rPr sz="1400" b="1" spc="1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bug</a:t>
            </a:r>
            <a:r>
              <a:rPr sz="1400" b="1" spc="14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or 	</a:t>
            </a:r>
            <a:r>
              <a:rPr sz="1400" b="1" spc="-20" dirty="0">
                <a:latin typeface="Calibri"/>
                <a:cs typeface="Calibri"/>
              </a:rPr>
              <a:t>not.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540941"/>
            <a:ext cx="4674235" cy="1626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Based</a:t>
            </a:r>
            <a:r>
              <a:rPr sz="1400" spc="4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400" spc="4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this,</a:t>
            </a:r>
            <a:r>
              <a:rPr sz="1400" spc="4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4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4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4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valid,</a:t>
            </a:r>
            <a:r>
              <a:rPr sz="1400" spc="4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4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starts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reproducing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application,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once</a:t>
            </a:r>
            <a:r>
              <a:rPr sz="1400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is 	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successfully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reproduced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,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analyze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code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3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does</a:t>
            </a:r>
            <a:r>
              <a:rPr sz="1400" spc="3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necessary</a:t>
            </a:r>
            <a:r>
              <a:rPr sz="1400" spc="3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changes,</a:t>
            </a:r>
            <a:r>
              <a:rPr sz="1400" spc="3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3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change</a:t>
            </a:r>
            <a:r>
              <a:rPr sz="1400" spc="3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status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Fixed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3270791"/>
            <a:ext cx="4676775" cy="162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Once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code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changes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done,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fixed,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re-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2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bug,</a:t>
            </a:r>
            <a:r>
              <a:rPr sz="1400" spc="3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3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means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test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3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performs</a:t>
            </a:r>
            <a:r>
              <a:rPr sz="1400" spc="3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same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action</a:t>
            </a:r>
            <a:r>
              <a:rPr sz="1400" spc="3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once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again,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is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mentioned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report,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changes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status 	accordingly: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4998442"/>
            <a:ext cx="467550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Close,</a:t>
            </a:r>
            <a:r>
              <a:rPr sz="1400" b="1" spc="3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fixes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properly,</a:t>
            </a:r>
            <a:r>
              <a:rPr sz="1400" spc="3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functionally</a:t>
            </a:r>
            <a:r>
              <a:rPr sz="1400" spc="3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working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5"/>
              </a:spcBef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according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requirement.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6303" y="535561"/>
            <a:ext cx="4779645" cy="986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Re-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open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1400" spc="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still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exists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working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properly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per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requirement,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sends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back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Developer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once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again.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6303" y="1621713"/>
            <a:ext cx="477837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process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going</a:t>
            </a:r>
            <a:r>
              <a:rPr sz="140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400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continuously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until</a:t>
            </a:r>
            <a:r>
              <a:rPr sz="140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40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bugs</a:t>
            </a:r>
            <a:r>
              <a:rPr sz="1400" spc="2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are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fixed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closed.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6303" y="2389937"/>
            <a:ext cx="4384040" cy="2776855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Note1: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cannot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tell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orally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Developer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reasons: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Developers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might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ignore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bug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Developer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misunderstood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bug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Forget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bug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found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exact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location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0291"/>
            <a:ext cx="1859914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Whom</a:t>
            </a:r>
            <a:r>
              <a:rPr sz="1400" b="1" spc="-3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to</a:t>
            </a:r>
            <a:r>
              <a:rPr sz="1400" b="1" spc="-3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assign</a:t>
            </a:r>
            <a:r>
              <a:rPr sz="1400" b="1" spc="-3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the</a:t>
            </a:r>
            <a:r>
              <a:rPr sz="1400" b="1" spc="-3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600A4A"/>
                </a:solidFill>
                <a:latin typeface="Calibri"/>
                <a:cs typeface="Calibri"/>
              </a:rPr>
              <a:t>bug: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844042"/>
            <a:ext cx="30054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assigned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following: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184580"/>
            <a:ext cx="5022215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4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Developers:</a:t>
            </a:r>
            <a:r>
              <a:rPr sz="1400" b="1" spc="4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4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4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know</a:t>
            </a:r>
            <a:r>
              <a:rPr sz="1400" spc="48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who</a:t>
            </a:r>
            <a:r>
              <a:rPr sz="1400" spc="4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sz="1400" spc="4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developed</a:t>
            </a:r>
            <a:r>
              <a:rPr sz="1400" spc="48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4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particular module.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1910257"/>
            <a:ext cx="5021580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4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b="1" spc="10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lead:</a:t>
            </a:r>
            <a:r>
              <a:rPr sz="1400" b="1" spc="10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don't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know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who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has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developed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particular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module.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2" y="2633468"/>
            <a:ext cx="5024120" cy="6229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  <a:tab pos="658495" algn="l"/>
                <a:tab pos="1710689" algn="l"/>
                <a:tab pos="2049145" algn="l"/>
                <a:tab pos="2555240" algn="l"/>
                <a:tab pos="3405504" algn="l"/>
              </a:tabLst>
            </a:pP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	lead:</a:t>
            </a:r>
            <a:r>
              <a:rPr sz="1400" b="1" spc="14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don't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	have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any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	interaction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670"/>
              </a:spcBef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development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team.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912" y="3359146"/>
            <a:ext cx="5028565" cy="24980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28600" indent="-228600" algn="ctr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286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fixed</a:t>
            </a:r>
            <a:r>
              <a:rPr sz="1400" b="1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b="1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closed</a:t>
            </a:r>
            <a:r>
              <a:rPr sz="1400" b="1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having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any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impact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67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other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module, then we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go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report.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  <a:p>
            <a:pPr marL="228600" indent="-228600" algn="ctr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286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Re-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open</a:t>
            </a:r>
            <a:r>
              <a:rPr sz="1400" b="1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(not</a:t>
            </a:r>
            <a:r>
              <a:rPr sz="1400" b="1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fixed)</a:t>
            </a:r>
            <a:r>
              <a:rPr sz="1400" b="1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affecting</a:t>
            </a:r>
            <a:endParaRPr sz="1400">
              <a:latin typeface="Calibri"/>
              <a:cs typeface="Calibri"/>
            </a:endParaRPr>
          </a:p>
          <a:p>
            <a:pPr marR="29209" algn="ctr">
              <a:lnSpc>
                <a:spcPct val="100000"/>
              </a:lnSpc>
              <a:spcBef>
                <a:spcPts val="67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another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module,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prepare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report.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Note2:</a:t>
            </a:r>
            <a:endParaRPr sz="1400">
              <a:latin typeface="Calibri"/>
              <a:cs typeface="Calibri"/>
            </a:endParaRPr>
          </a:p>
          <a:p>
            <a:pPr marL="12700" marR="86995">
              <a:lnSpc>
                <a:spcPct val="140000"/>
              </a:lnSpc>
              <a:spcBef>
                <a:spcPts val="1010"/>
              </a:spcBef>
            </a:pPr>
            <a:r>
              <a:rPr sz="1400" dirty="0">
                <a:latin typeface="Calibri"/>
                <a:cs typeface="Calibri"/>
              </a:rPr>
              <a:t>Whenever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Developers </a:t>
            </a:r>
            <a:r>
              <a:rPr sz="1400" dirty="0">
                <a:latin typeface="Calibri"/>
                <a:cs typeface="Calibri"/>
              </a:rPr>
              <a:t>fix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check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one </a:t>
            </a:r>
            <a:r>
              <a:rPr sz="1400" dirty="0">
                <a:latin typeface="Calibri"/>
                <a:cs typeface="Calibri"/>
              </a:rPr>
              <a:t>round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impact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area.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3106" y="643839"/>
            <a:ext cx="44424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If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fixed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correctly,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change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status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Close.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3106" y="981126"/>
            <a:ext cx="502285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2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And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impact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area,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reported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new </a:t>
            </a:r>
            <a:r>
              <a:rPr sz="1400" b="1" spc="-20" dirty="0"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3106" y="1749729"/>
            <a:ext cx="501904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If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old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bug</a:t>
            </a:r>
            <a:r>
              <a:rPr sz="1400" b="1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fixed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properly,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change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status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Re- </a:t>
            </a:r>
            <a:r>
              <a:rPr sz="1400" b="1" spc="-10" dirty="0">
                <a:latin typeface="Calibri"/>
                <a:cs typeface="Calibri"/>
              </a:rPr>
              <a:t>open.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63106" y="2517522"/>
            <a:ext cx="5020310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45" dirty="0">
                <a:latin typeface="Calibri"/>
                <a:cs typeface="Calibri"/>
              </a:rPr>
              <a:t>Or,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impact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area,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change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status to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New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4"/>
              </a:spcBef>
            </a:pPr>
            <a:r>
              <a:rPr sz="1400" b="1" dirty="0">
                <a:latin typeface="Calibri"/>
                <a:cs typeface="Calibri"/>
              </a:rPr>
              <a:t>reported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new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9722"/>
            <a:ext cx="149669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600A38"/>
                </a:solidFill>
                <a:latin typeface="Calibri"/>
                <a:cs typeface="Calibri"/>
              </a:rPr>
              <a:t>status</a:t>
            </a:r>
            <a:r>
              <a:rPr sz="1600" b="1" spc="-3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00A38"/>
                </a:solidFill>
                <a:latin typeface="Calibri"/>
                <a:cs typeface="Calibri"/>
              </a:rPr>
              <a:t>of</a:t>
            </a:r>
            <a:r>
              <a:rPr sz="1600" b="1" spc="-4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00A38"/>
                </a:solidFill>
                <a:latin typeface="Calibri"/>
                <a:cs typeface="Calibri"/>
              </a:rPr>
              <a:t>the</a:t>
            </a:r>
            <a:r>
              <a:rPr sz="1600" b="1" spc="-5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600A38"/>
                </a:solidFill>
                <a:latin typeface="Calibri"/>
                <a:cs typeface="Calibri"/>
              </a:rPr>
              <a:t>bug: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945643"/>
            <a:ext cx="5022215" cy="986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5080" indent="-227965" algn="just">
              <a:lnSpc>
                <a:spcPct val="1501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Once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prepared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send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Developers,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accept</a:t>
            </a:r>
            <a:r>
              <a:rPr sz="1400" spc="2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2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starts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doing</a:t>
            </a:r>
            <a:r>
              <a:rPr sz="1400" spc="3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necessary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code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changes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 become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positive</a:t>
            </a:r>
            <a:r>
              <a:rPr sz="1400" b="1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flow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life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cycle.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2035716"/>
            <a:ext cx="5024120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There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may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serval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conditions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Developers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may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do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necessary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code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changes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depend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situation,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which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becomes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negative</a:t>
            </a:r>
            <a:r>
              <a:rPr sz="14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flow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life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cycle.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3231895"/>
            <a:ext cx="3973829" cy="2186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400" b="1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1400" b="1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status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life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cycle: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latin typeface="Calibri"/>
                <a:cs typeface="Calibri"/>
              </a:rPr>
              <a:t>Invalid/rejected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latin typeface="Calibri"/>
                <a:cs typeface="Calibri"/>
              </a:rPr>
              <a:t>Duplicate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latin typeface="Calibri"/>
                <a:cs typeface="Calibri"/>
              </a:rPr>
              <a:t>Postpone/deferred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Can't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fix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Not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reproducible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RFE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(Request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10" dirty="0">
                <a:latin typeface="Calibri"/>
                <a:cs typeface="Calibri"/>
              </a:rPr>
              <a:t> Enhancement)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3820" y="643839"/>
            <a:ext cx="132143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Invalid</a:t>
            </a:r>
            <a:r>
              <a:rPr sz="1400" b="1" spc="1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/</a:t>
            </a:r>
            <a:r>
              <a:rPr sz="1400" b="1" spc="-4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rejected: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3820" y="981126"/>
            <a:ext cx="502602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wrote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incorrect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of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misunderstanding</a:t>
            </a:r>
            <a:r>
              <a:rPr sz="140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requirements,</a:t>
            </a:r>
            <a:r>
              <a:rPr sz="1400" spc="3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2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not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accept</a:t>
            </a:r>
            <a:r>
              <a:rPr sz="140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bug,</a:t>
            </a:r>
            <a:r>
              <a:rPr sz="140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gave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spc="2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2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Invalid</a:t>
            </a:r>
            <a:r>
              <a:rPr sz="1400" b="1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sent</a:t>
            </a:r>
            <a:r>
              <a:rPr sz="140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back.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(Sometime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misunderstand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requirements).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2823" y="2868167"/>
            <a:ext cx="4340352" cy="5181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8959" y="3907535"/>
            <a:ext cx="4340352" cy="21823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3625"/>
            <a:ext cx="29076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Reasons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invalid status</a:t>
            </a:r>
            <a:r>
              <a:rPr sz="14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008633"/>
            <a:ext cx="37001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35" dirty="0">
                <a:solidFill>
                  <a:srgbClr val="006FC0"/>
                </a:solidFill>
                <a:latin typeface="Calibri"/>
                <a:cs typeface="Calibri"/>
              </a:rPr>
              <a:t>Test</a:t>
            </a:r>
            <a:r>
              <a:rPr sz="1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FC0"/>
                </a:solidFill>
                <a:latin typeface="Calibri"/>
                <a:cs typeface="Calibri"/>
              </a:rPr>
              <a:t>Engineer</a:t>
            </a:r>
            <a:r>
              <a:rPr sz="1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misunderstood</a:t>
            </a:r>
            <a:r>
              <a:rPr sz="1400" b="1" spc="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requirements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457070"/>
            <a:ext cx="34772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Developer</a:t>
            </a:r>
            <a:r>
              <a:rPr sz="14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misunderstood</a:t>
            </a:r>
            <a:r>
              <a:rPr sz="1400" b="1" spc="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requirements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1797482"/>
            <a:ext cx="502412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Let's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see</a:t>
            </a:r>
            <a:r>
              <a:rPr sz="140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sz="1400" spc="22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example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2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developer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misunderstood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requirements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3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2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see</a:t>
            </a:r>
            <a:r>
              <a:rPr sz="1400" spc="3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3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below 	image: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643839"/>
            <a:ext cx="76644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Duplicate: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981126"/>
            <a:ext cx="502221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2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spc="2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same</a:t>
            </a:r>
            <a:r>
              <a:rPr sz="14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sz="1400" spc="2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been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reported</a:t>
            </a:r>
            <a:r>
              <a:rPr sz="14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multiple</a:t>
            </a:r>
            <a:r>
              <a:rPr sz="14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times</a:t>
            </a:r>
            <a:r>
              <a:rPr sz="1400" spc="2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sz="14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engineers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known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duplicate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3647947"/>
            <a:ext cx="5022850" cy="177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reasons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duplicate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status: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Calibri"/>
                <a:cs typeface="Calibri"/>
              </a:rPr>
              <a:t>Common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features:</a:t>
            </a:r>
            <a:endParaRPr sz="1400">
              <a:latin typeface="Calibri"/>
              <a:cs typeface="Calibri"/>
            </a:endParaRPr>
          </a:p>
          <a:p>
            <a:pPr marL="12700" marR="5080" algn="just">
              <a:lnSpc>
                <a:spcPct val="150100"/>
              </a:lnSpc>
              <a:spcBef>
                <a:spcPts val="1005"/>
              </a:spcBef>
            </a:pP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2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example:</a:t>
            </a:r>
            <a:r>
              <a:rPr sz="1400" b="1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Suppose</a:t>
            </a:r>
            <a:r>
              <a:rPr sz="1400" spc="2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25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2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engineer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</a:t>
            </a:r>
            <a:r>
              <a:rPr sz="1400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2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</a:t>
            </a:r>
            <a:r>
              <a:rPr sz="1400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22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are </a:t>
            </a:r>
            <a:r>
              <a:rPr sz="1400" dirty="0">
                <a:latin typeface="Calibri"/>
                <a:cs typeface="Calibri"/>
              </a:rPr>
              <a:t>testing</a:t>
            </a:r>
            <a:r>
              <a:rPr sz="1400" spc="409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software,</a:t>
            </a:r>
            <a:r>
              <a:rPr sz="1400" spc="3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3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engineer</a:t>
            </a:r>
            <a:r>
              <a:rPr sz="1400" spc="4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</a:t>
            </a:r>
            <a:r>
              <a:rPr sz="1400" spc="4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3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</a:t>
            </a:r>
            <a:r>
              <a:rPr sz="1400" spc="3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4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39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their features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like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login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application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576" y="3134940"/>
            <a:ext cx="3879982" cy="26161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7559" y="1804416"/>
            <a:ext cx="3904488" cy="17495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65480"/>
            <a:ext cx="4894580" cy="285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73355" indent="-229235">
              <a:lnSpc>
                <a:spcPct val="1308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Here,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engineer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enters</a:t>
            </a:r>
            <a:r>
              <a:rPr sz="1300" dirty="0">
                <a:latin typeface="Calibri"/>
                <a:cs typeface="Calibri"/>
              </a:rPr>
              <a:t> the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valid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username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password,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click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login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button.</a:t>
            </a:r>
            <a:endParaRPr sz="13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Once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click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 login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button,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opens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blank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page,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which</a:t>
            </a:r>
            <a:r>
              <a:rPr sz="1300" spc="-10" dirty="0">
                <a:latin typeface="Calibri"/>
                <a:cs typeface="Calibri"/>
              </a:rPr>
              <a:t> means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80"/>
              </a:spcBef>
            </a:pPr>
            <a:r>
              <a:rPr sz="1300" dirty="0">
                <a:latin typeface="Calibri"/>
                <a:cs typeface="Calibri"/>
              </a:rPr>
              <a:t>that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bug.</a:t>
            </a:r>
            <a:endParaRPr sz="13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After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that,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prepares a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bug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report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particular bug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sends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it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59"/>
              </a:spcBef>
            </a:pPr>
            <a:r>
              <a:rPr sz="1300" dirty="0">
                <a:latin typeface="Calibri"/>
                <a:cs typeface="Calibri"/>
              </a:rPr>
              <a:t>to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developer.</a:t>
            </a:r>
            <a:endParaRPr sz="13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60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Then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engineer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Q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also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login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application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got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same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84"/>
              </a:spcBef>
            </a:pPr>
            <a:r>
              <a:rPr sz="1300" spc="-20" dirty="0">
                <a:latin typeface="Calibri"/>
                <a:cs typeface="Calibri"/>
              </a:rPr>
              <a:t>bugs.</a:t>
            </a:r>
            <a:endParaRPr sz="1300">
              <a:latin typeface="Calibri"/>
              <a:cs typeface="Calibri"/>
            </a:endParaRPr>
          </a:p>
          <a:p>
            <a:pPr marL="280670" indent="-267970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80670" algn="l"/>
              </a:tabLst>
            </a:pPr>
            <a:r>
              <a:rPr sz="1300" dirty="0">
                <a:latin typeface="Calibri"/>
                <a:cs typeface="Calibri"/>
              </a:rPr>
              <a:t>Q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also prepare a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bug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report and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send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it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developer.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3420680"/>
            <a:ext cx="4900930" cy="54356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Once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developer</a:t>
            </a:r>
            <a:r>
              <a:rPr sz="1300" dirty="0">
                <a:latin typeface="Calibri"/>
                <a:cs typeface="Calibri"/>
              </a:rPr>
              <a:t> got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both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engineers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bug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report,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he/she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sends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80"/>
              </a:spcBef>
            </a:pPr>
            <a:r>
              <a:rPr sz="1300" dirty="0">
                <a:latin typeface="Calibri"/>
                <a:cs typeface="Calibri"/>
              </a:rPr>
              <a:t>back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bug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report to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Q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say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duplicate.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4036822"/>
            <a:ext cx="502285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600A38"/>
                </a:solidFill>
                <a:latin typeface="Calibri"/>
                <a:cs typeface="Calibri"/>
              </a:rPr>
              <a:t>Dependent</a:t>
            </a:r>
            <a:r>
              <a:rPr sz="1300" b="1" spc="1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600A38"/>
                </a:solidFill>
                <a:latin typeface="Calibri"/>
                <a:cs typeface="Calibri"/>
              </a:rPr>
              <a:t>Modules:</a:t>
            </a:r>
            <a:endParaRPr sz="1300">
              <a:latin typeface="Calibri"/>
              <a:cs typeface="Calibri"/>
            </a:endParaRPr>
          </a:p>
          <a:p>
            <a:pPr marL="12700" marR="5080" algn="just">
              <a:lnSpc>
                <a:spcPct val="130100"/>
              </a:lnSpc>
              <a:spcBef>
                <a:spcPts val="755"/>
              </a:spcBef>
            </a:pPr>
            <a:r>
              <a:rPr sz="1300" dirty="0">
                <a:latin typeface="Calibri"/>
                <a:cs typeface="Calibri"/>
              </a:rPr>
              <a:t>As</a:t>
            </a:r>
            <a:r>
              <a:rPr sz="1300" spc="4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we</a:t>
            </a:r>
            <a:r>
              <a:rPr sz="1300" spc="48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4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see</a:t>
            </a:r>
            <a:r>
              <a:rPr sz="1300" spc="4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4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48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below</a:t>
            </a:r>
            <a:r>
              <a:rPr sz="1300" spc="4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image,</a:t>
            </a:r>
            <a:r>
              <a:rPr sz="1300" spc="4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that</a:t>
            </a:r>
            <a:r>
              <a:rPr sz="1300" spc="100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05" dirty="0"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48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engineer</a:t>
            </a:r>
            <a:r>
              <a:rPr sz="1300" spc="48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wants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15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compose</a:t>
            </a:r>
            <a:r>
              <a:rPr sz="1300" b="1" spc="1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</a:t>
            </a:r>
            <a:r>
              <a:rPr sz="1300" b="1" spc="15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mail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1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so</a:t>
            </a:r>
            <a:r>
              <a:rPr sz="1300" spc="1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first,</a:t>
            </a:r>
            <a:r>
              <a:rPr sz="1300" spc="1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1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engineer</a:t>
            </a:r>
            <a:r>
              <a:rPr sz="1300" spc="1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needs</a:t>
            </a:r>
            <a:r>
              <a:rPr sz="1300" spc="1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15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login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1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then</a:t>
            </a:r>
            <a:r>
              <a:rPr sz="1300" spc="15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only </a:t>
            </a:r>
            <a:r>
              <a:rPr sz="1300" dirty="0">
                <a:latin typeface="Calibri"/>
                <a:cs typeface="Calibri"/>
              </a:rPr>
              <a:t>he/she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able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compose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mail.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5228590"/>
            <a:ext cx="5023485" cy="800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10"/>
              </a:spcBef>
            </a:pPr>
            <a:r>
              <a:rPr sz="1300" dirty="0">
                <a:latin typeface="Calibri"/>
                <a:cs typeface="Calibri"/>
              </a:rPr>
              <a:t>If</a:t>
            </a:r>
            <a:r>
              <a:rPr sz="1300" spc="2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2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bug</a:t>
            </a:r>
            <a:r>
              <a:rPr sz="1300" spc="2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2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found</a:t>
            </a:r>
            <a:r>
              <a:rPr sz="1300" spc="2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2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26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login</a:t>
            </a:r>
            <a:r>
              <a:rPr sz="1300" b="1" spc="26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module</a:t>
            </a:r>
            <a:r>
              <a:rPr sz="1300" dirty="0">
                <a:latin typeface="Calibri"/>
                <a:cs typeface="Calibri"/>
              </a:rPr>
              <a:t>,</a:t>
            </a:r>
            <a:r>
              <a:rPr sz="1300" spc="2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2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test</a:t>
            </a:r>
            <a:r>
              <a:rPr sz="1300" spc="2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engineer</a:t>
            </a:r>
            <a:r>
              <a:rPr sz="1300" spc="2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cannot</a:t>
            </a:r>
            <a:r>
              <a:rPr sz="1300" spc="28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do </a:t>
            </a:r>
            <a:r>
              <a:rPr sz="1300" dirty="0">
                <a:latin typeface="Calibri"/>
                <a:cs typeface="Calibri"/>
              </a:rPr>
              <a:t>further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process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because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composing module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 dependent on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login module.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3526028"/>
            <a:ext cx="1692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Calibri"/>
                <a:cs typeface="Calibri"/>
              </a:rPr>
              <a:t>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avoid</a:t>
            </a:r>
            <a:r>
              <a:rPr sz="1200" b="1" spc="-6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duplicate</a:t>
            </a:r>
            <a:r>
              <a:rPr sz="1200" b="1" spc="-25" dirty="0">
                <a:latin typeface="Calibri"/>
                <a:cs typeface="Calibri"/>
              </a:rPr>
              <a:t> bug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3830183"/>
            <a:ext cx="5386070" cy="5384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Developer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got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duplicate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bug,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then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he/she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bug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repository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200" dirty="0">
                <a:latin typeface="Calibri"/>
                <a:cs typeface="Calibri"/>
              </a:rPr>
              <a:t>search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check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whether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exist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 </a:t>
            </a:r>
            <a:r>
              <a:rPr sz="1200" spc="-20" dirty="0">
                <a:latin typeface="Calibri"/>
                <a:cs typeface="Calibri"/>
              </a:rPr>
              <a:t>not.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4" y="4727575"/>
            <a:ext cx="5218430" cy="10502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same </a:t>
            </a:r>
            <a:r>
              <a:rPr sz="1200" b="1" dirty="0">
                <a:latin typeface="Calibri"/>
                <a:cs typeface="Calibri"/>
              </a:rPr>
              <a:t>bug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exist</a:t>
            </a:r>
            <a:r>
              <a:rPr sz="1200" dirty="0">
                <a:latin typeface="Calibri"/>
                <a:cs typeface="Calibri"/>
              </a:rPr>
              <a:t>, then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 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same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report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again.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b="1" spc="-25" dirty="0">
                <a:latin typeface="Calibri"/>
                <a:cs typeface="Calibri"/>
              </a:rPr>
              <a:t>Or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bug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does not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exist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store in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bug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repository,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200" spc="-10" dirty="0">
                <a:latin typeface="Calibri"/>
                <a:cs typeface="Calibri"/>
              </a:rPr>
              <a:t>Developers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Test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Engineers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[CC].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0480" y="801623"/>
            <a:ext cx="2587752" cy="22189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9722"/>
            <a:ext cx="5022215" cy="764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600A4A"/>
                </a:solidFill>
                <a:latin typeface="Calibri"/>
                <a:cs typeface="Calibri"/>
              </a:rPr>
              <a:t>Not</a:t>
            </a:r>
            <a:r>
              <a:rPr sz="1600" b="1" spc="-10" dirty="0">
                <a:solidFill>
                  <a:srgbClr val="600A4A"/>
                </a:solidFill>
                <a:latin typeface="Calibri"/>
                <a:cs typeface="Calibri"/>
              </a:rPr>
              <a:t> Reproducible: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  <a:tab pos="707390" algn="l"/>
                <a:tab pos="1713864" algn="l"/>
                <a:tab pos="2494280" algn="l"/>
                <a:tab pos="2927350" algn="l"/>
                <a:tab pos="3448050" algn="l"/>
                <a:tab pos="3887470" algn="l"/>
                <a:tab pos="4326255" algn="l"/>
                <a:tab pos="4835525" algn="l"/>
              </a:tabLst>
            </a:pPr>
            <a:r>
              <a:rPr sz="1600" spc="-2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333333"/>
                </a:solidFill>
                <a:latin typeface="Calibri"/>
                <a:cs typeface="Calibri"/>
              </a:rPr>
              <a:t>accepts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00" spc="-20" dirty="0">
                <a:solidFill>
                  <a:srgbClr val="333333"/>
                </a:solidFill>
                <a:latin typeface="Calibri"/>
                <a:cs typeface="Calibri"/>
              </a:rPr>
              <a:t>bug,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333333"/>
                </a:solidFill>
                <a:latin typeface="Calibri"/>
                <a:cs typeface="Calibri"/>
              </a:rPr>
              <a:t>but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00" spc="-20" dirty="0">
                <a:solidFill>
                  <a:srgbClr val="333333"/>
                </a:solidFill>
                <a:latin typeface="Calibri"/>
                <a:cs typeface="Calibri"/>
              </a:rPr>
              <a:t>able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1816" y="1429638"/>
            <a:ext cx="27298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solidFill>
                  <a:srgbClr val="333333"/>
                </a:solidFill>
                <a:latin typeface="Calibri"/>
                <a:cs typeface="Calibri"/>
              </a:rPr>
              <a:t>Reproduce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 due</a:t>
            </a:r>
            <a:r>
              <a:rPr sz="16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33333"/>
                </a:solidFill>
                <a:latin typeface="Calibri"/>
                <a:cs typeface="Calibri"/>
              </a:rPr>
              <a:t>some</a:t>
            </a:r>
            <a:r>
              <a:rPr sz="16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Calibri"/>
                <a:cs typeface="Calibri"/>
              </a:rPr>
              <a:t>reasons.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708170"/>
            <a:ext cx="5027295" cy="29781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b="1" dirty="0">
                <a:solidFill>
                  <a:srgbClr val="333333"/>
                </a:solidFill>
                <a:latin typeface="Calibri"/>
                <a:cs typeface="Calibri"/>
              </a:rPr>
              <a:t>Reasons</a:t>
            </a:r>
            <a:r>
              <a:rPr sz="15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5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5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Calibri"/>
                <a:cs typeface="Calibri"/>
              </a:rPr>
              <a:t>not </a:t>
            </a:r>
            <a:r>
              <a:rPr sz="1500" b="1" spc="-10" dirty="0">
                <a:solidFill>
                  <a:srgbClr val="333333"/>
                </a:solidFill>
                <a:latin typeface="Calibri"/>
                <a:cs typeface="Calibri"/>
              </a:rPr>
              <a:t>reproducible</a:t>
            </a:r>
            <a:r>
              <a:rPr sz="15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500" b="1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500" b="1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500" b="1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endParaRPr sz="1500">
              <a:latin typeface="Calibri"/>
              <a:cs typeface="Calibri"/>
            </a:endParaRPr>
          </a:p>
          <a:p>
            <a:pPr marL="241300" indent="-228600">
              <a:lnSpc>
                <a:spcPts val="1705"/>
              </a:lnSpc>
              <a:spcBef>
                <a:spcPts val="845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Reasons</a:t>
            </a:r>
            <a:r>
              <a:rPr sz="15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5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5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5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reproducible</a:t>
            </a:r>
            <a:r>
              <a:rPr sz="15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5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5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5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500" spc="2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5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endParaRPr sz="1500">
              <a:latin typeface="Calibri"/>
              <a:cs typeface="Calibri"/>
            </a:endParaRPr>
          </a:p>
          <a:p>
            <a:pPr marL="241300">
              <a:lnSpc>
                <a:spcPts val="1705"/>
              </a:lnSpc>
            </a:pPr>
            <a:r>
              <a:rPr sz="1500" spc="-10" dirty="0">
                <a:solidFill>
                  <a:srgbClr val="333333"/>
                </a:solidFill>
                <a:latin typeface="Calibri"/>
                <a:cs typeface="Calibri"/>
              </a:rPr>
              <a:t>follows:</a:t>
            </a:r>
            <a:endParaRPr sz="15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b="1" spc="-10" dirty="0">
                <a:latin typeface="Calibri"/>
                <a:cs typeface="Calibri"/>
              </a:rPr>
              <a:t>Incomplete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bug</a:t>
            </a:r>
            <a:r>
              <a:rPr sz="1500" b="1" spc="4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report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714"/>
              </a:lnSpc>
              <a:spcBef>
                <a:spcPts val="820"/>
              </a:spcBef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3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3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engineer</a:t>
            </a:r>
            <a:r>
              <a:rPr sz="1500" spc="3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did</a:t>
            </a:r>
            <a:r>
              <a:rPr sz="1500" spc="3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not</a:t>
            </a:r>
            <a:r>
              <a:rPr sz="1500" spc="3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mention</a:t>
            </a:r>
            <a:r>
              <a:rPr sz="1500" spc="3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complete</a:t>
            </a:r>
            <a:r>
              <a:rPr sz="1500" spc="3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navigation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714"/>
              </a:lnSpc>
            </a:pPr>
            <a:r>
              <a:rPr sz="1500" dirty="0">
                <a:latin typeface="Calibri"/>
                <a:cs typeface="Calibri"/>
              </a:rPr>
              <a:t>steps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report.</a:t>
            </a:r>
            <a:endParaRPr sz="15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b="1" spc="-10" dirty="0">
                <a:latin typeface="Calibri"/>
                <a:cs typeface="Calibri"/>
              </a:rPr>
              <a:t>Environment</a:t>
            </a:r>
            <a:r>
              <a:rPr sz="1500" b="1" spc="-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mismatch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500" spc="-10" dirty="0">
                <a:latin typeface="Calibri"/>
                <a:cs typeface="Calibri"/>
              </a:rPr>
              <a:t>Environment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mismatch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described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two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ways:</a:t>
            </a:r>
            <a:endParaRPr sz="15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40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b="1" dirty="0">
                <a:latin typeface="Calibri"/>
                <a:cs typeface="Calibri"/>
              </a:rPr>
              <a:t>Server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mismatch</a:t>
            </a:r>
            <a:endParaRPr sz="15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0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b="1" dirty="0">
                <a:latin typeface="Calibri"/>
                <a:cs typeface="Calibri"/>
              </a:rPr>
              <a:t>Platform</a:t>
            </a:r>
            <a:r>
              <a:rPr sz="1500" b="1" spc="-8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mismatch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535561"/>
            <a:ext cx="5026025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sz="1400" b="1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mismatch:</a:t>
            </a:r>
            <a:r>
              <a:rPr sz="1400" b="1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(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Test 	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),</a:t>
            </a:r>
            <a:r>
              <a:rPr sz="1400" spc="204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1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21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sz="1400" spc="21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210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1400" spc="204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server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(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Development</a:t>
            </a:r>
            <a:r>
              <a:rPr sz="1400" b="1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)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reproducing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see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in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below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image: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2864" y="2249423"/>
            <a:ext cx="3700272" cy="35417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634796"/>
            <a:ext cx="510857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Platform</a:t>
            </a:r>
            <a:r>
              <a:rPr sz="1400" b="1" spc="3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mismatch:</a:t>
            </a:r>
            <a:r>
              <a:rPr sz="1400" b="1" spc="3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3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sz="1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1400" spc="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Platform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(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window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7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Google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Chrome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browser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),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Developer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using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Platform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(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window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XP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b="1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internet</a:t>
            </a:r>
            <a:r>
              <a:rPr sz="14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explorer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)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well.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734057"/>
            <a:ext cx="5106670" cy="972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Data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mismatch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50200"/>
              </a:lnSpc>
              <a:spcBef>
                <a:spcPts val="740"/>
              </a:spcBef>
            </a:pPr>
            <a:r>
              <a:rPr sz="1400" spc="-10" dirty="0">
                <a:latin typeface="Calibri"/>
                <a:cs typeface="Calibri"/>
              </a:rPr>
              <a:t>Different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Values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engineer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while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testing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Developer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uses </a:t>
            </a:r>
            <a:r>
              <a:rPr sz="1400" spc="-10" dirty="0">
                <a:latin typeface="Calibri"/>
                <a:cs typeface="Calibri"/>
              </a:rPr>
              <a:t>different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values.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2717470"/>
            <a:ext cx="3253104" cy="66040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example: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requirement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given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admin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user.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4743703"/>
            <a:ext cx="37255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I.e.,</a:t>
            </a:r>
            <a:r>
              <a:rPr sz="105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both</a:t>
            </a:r>
            <a:r>
              <a:rPr sz="105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are</a:t>
            </a:r>
            <a:r>
              <a:rPr sz="105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using</a:t>
            </a:r>
            <a:r>
              <a:rPr sz="105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05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different</a:t>
            </a:r>
            <a:r>
              <a:rPr sz="105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value</a:t>
            </a:r>
            <a:r>
              <a:rPr sz="105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105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05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same</a:t>
            </a:r>
            <a:r>
              <a:rPr sz="105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333333"/>
                </a:solidFill>
                <a:latin typeface="Arial MT"/>
                <a:cs typeface="Arial MT"/>
              </a:rPr>
              <a:t>login</a:t>
            </a:r>
            <a:r>
              <a:rPr sz="105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 MT"/>
                <a:cs typeface="Arial MT"/>
              </a:rPr>
              <a:t>module.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9097" y="742950"/>
            <a:ext cx="120523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Build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mismatch: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9097" y="1080313"/>
            <a:ext cx="499681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engineer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Build,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Developer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is </a:t>
            </a:r>
            <a:r>
              <a:rPr sz="1400" dirty="0">
                <a:latin typeface="Calibri"/>
                <a:cs typeface="Calibri"/>
              </a:rPr>
              <a:t>reproducing</a:t>
            </a:r>
            <a:r>
              <a:rPr sz="1400" spc="4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4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4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another</a:t>
            </a:r>
            <a:r>
              <a:rPr sz="1400" spc="4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build.</a:t>
            </a:r>
            <a:r>
              <a:rPr sz="1400" spc="4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4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be </a:t>
            </a:r>
            <a:r>
              <a:rPr sz="1400" spc="-10" dirty="0">
                <a:latin typeface="Calibri"/>
                <a:cs typeface="Calibri"/>
              </a:rPr>
              <a:t>automatically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fixed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fixing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another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9097" y="2276297"/>
            <a:ext cx="128460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Calibri"/>
                <a:cs typeface="Calibri"/>
              </a:rPr>
              <a:t>Inconsistent </a:t>
            </a:r>
            <a:r>
              <a:rPr sz="1400" b="1" spc="-20" dirty="0">
                <a:latin typeface="Calibri"/>
                <a:cs typeface="Calibri"/>
              </a:rPr>
              <a:t>bug: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9097" y="2725038"/>
            <a:ext cx="45548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found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sometime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won't </a:t>
            </a:r>
            <a:r>
              <a:rPr sz="1400" spc="-10" dirty="0">
                <a:latin typeface="Calibri"/>
                <a:cs typeface="Calibri"/>
              </a:rPr>
              <a:t>happen.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9097" y="3490340"/>
            <a:ext cx="4998720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Solution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inconsistent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bug: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As</a:t>
            </a:r>
            <a:r>
              <a:rPr sz="1400" spc="4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soon</a:t>
            </a:r>
            <a:r>
              <a:rPr sz="1400" spc="4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4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4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4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8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bug,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first,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take</a:t>
            </a:r>
            <a:r>
              <a:rPr sz="1400" b="1" spc="4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4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screenshot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49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then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alibri"/>
                <a:cs typeface="Calibri"/>
              </a:rPr>
              <a:t>developer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re-</a:t>
            </a:r>
            <a:r>
              <a:rPr sz="1400" b="1" dirty="0">
                <a:latin typeface="Calibri"/>
                <a:cs typeface="Calibri"/>
              </a:rPr>
              <a:t>confirm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fix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exists.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3736847"/>
            <a:ext cx="5087112" cy="85343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9722"/>
            <a:ext cx="71437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600A4A"/>
                </a:solidFill>
                <a:latin typeface="Calibri"/>
                <a:cs typeface="Calibri"/>
              </a:rPr>
              <a:t>Can't</a:t>
            </a:r>
            <a:r>
              <a:rPr sz="1600" b="1" spc="-2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600A4A"/>
                </a:solidFill>
                <a:latin typeface="Calibri"/>
                <a:cs typeface="Calibri"/>
              </a:rPr>
              <a:t>fix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945643"/>
            <a:ext cx="5024120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dirty="0">
                <a:latin typeface="Calibri"/>
                <a:cs typeface="Calibri"/>
              </a:rPr>
              <a:t>When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Developer</a:t>
            </a:r>
            <a:r>
              <a:rPr sz="1400" spc="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accepting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able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reproduce,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but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dirty="0">
                <a:latin typeface="Calibri"/>
                <a:cs typeface="Calibri"/>
              </a:rPr>
              <a:t>can't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necessary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changes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restrictions.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464" y="549351"/>
            <a:ext cx="311213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Reasons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can't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fix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status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bug: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961389"/>
            <a:ext cx="44862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Following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 are</a:t>
            </a: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constraints</a:t>
            </a:r>
            <a:r>
              <a:rPr sz="14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reasons</a:t>
            </a:r>
            <a:r>
              <a:rPr sz="1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can't</a:t>
            </a:r>
            <a:r>
              <a:rPr sz="1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fix</a:t>
            </a:r>
            <a:r>
              <a:rPr sz="1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bug: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1301927"/>
            <a:ext cx="50234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No</a:t>
            </a:r>
            <a:r>
              <a:rPr sz="1400" b="1" spc="3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technology</a:t>
            </a:r>
            <a:r>
              <a:rPr sz="1400" b="1" spc="3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support:</a:t>
            </a:r>
            <a:r>
              <a:rPr sz="1400" b="1" spc="3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programming</a:t>
            </a:r>
            <a:r>
              <a:rPr sz="1400" spc="3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language</a:t>
            </a:r>
            <a:r>
              <a:rPr sz="1400" spc="3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3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used </a:t>
            </a:r>
            <a:r>
              <a:rPr sz="1400" dirty="0">
                <a:latin typeface="Calibri"/>
                <a:cs typeface="Calibri"/>
              </a:rPr>
              <a:t>itself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having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capability 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solve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problem.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2464" y="2070277"/>
            <a:ext cx="5022850" cy="2199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Bug</a:t>
            </a:r>
            <a:r>
              <a:rPr sz="1400" b="1" spc="1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is</a:t>
            </a:r>
            <a:r>
              <a:rPr sz="1400" b="1" spc="1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10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core</a:t>
            </a:r>
            <a:r>
              <a:rPr sz="1400" b="1" spc="114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10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code</a:t>
            </a:r>
            <a:r>
              <a:rPr sz="1400" b="1" spc="1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(framework):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minor 	</a:t>
            </a:r>
            <a:r>
              <a:rPr sz="1400" dirty="0">
                <a:latin typeface="Calibri"/>
                <a:cs typeface="Calibri"/>
              </a:rPr>
              <a:t>(not</a:t>
            </a:r>
            <a:r>
              <a:rPr sz="1400" spc="19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important</a:t>
            </a:r>
            <a:r>
              <a:rPr sz="1400" spc="18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19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does</a:t>
            </a:r>
            <a:r>
              <a:rPr sz="1400" spc="19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18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affect</a:t>
            </a:r>
            <a:r>
              <a:rPr sz="1400" spc="19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9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application),</a:t>
            </a:r>
            <a:r>
              <a:rPr sz="1400" spc="195" dirty="0">
                <a:latin typeface="Calibri"/>
                <a:cs typeface="Calibri"/>
              </a:rPr>
              <a:t>  </a:t>
            </a:r>
            <a:r>
              <a:rPr sz="1400" spc="-25" dirty="0">
                <a:latin typeface="Calibri"/>
                <a:cs typeface="Calibri"/>
              </a:rPr>
              <a:t>the 	</a:t>
            </a:r>
            <a:r>
              <a:rPr sz="1400" spc="-10" dirty="0">
                <a:latin typeface="Calibri"/>
                <a:cs typeface="Calibri"/>
              </a:rPr>
              <a:t>development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says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fixed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next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release.Or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if</a:t>
            </a:r>
            <a:r>
              <a:rPr sz="1400" spc="10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0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9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48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critical</a:t>
            </a:r>
            <a:r>
              <a:rPr sz="1400" spc="4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(regularly</a:t>
            </a:r>
            <a:r>
              <a:rPr sz="1400" spc="9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9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9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important</a:t>
            </a:r>
            <a:r>
              <a:rPr sz="1400" spc="4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90" dirty="0">
                <a:latin typeface="Calibri"/>
                <a:cs typeface="Calibri"/>
              </a:rPr>
              <a:t>  </a:t>
            </a:r>
            <a:r>
              <a:rPr sz="1400" spc="-25" dirty="0"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Calibri"/>
                <a:cs typeface="Calibri"/>
              </a:rPr>
              <a:t>business)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development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cannot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reject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cost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fixing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keeping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423" y="1922133"/>
            <a:ext cx="4399800" cy="244324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69722"/>
            <a:ext cx="192087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600A4A"/>
                </a:solidFill>
                <a:latin typeface="Calibri"/>
                <a:cs typeface="Calibri"/>
              </a:rPr>
              <a:t>Deferred</a:t>
            </a:r>
            <a:r>
              <a:rPr sz="1600" b="1" spc="-3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00A4A"/>
                </a:solidFill>
                <a:latin typeface="Calibri"/>
                <a:cs typeface="Calibri"/>
              </a:rPr>
              <a:t>/</a:t>
            </a:r>
            <a:r>
              <a:rPr sz="1600" b="1" spc="1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00A4A"/>
                </a:solidFill>
                <a:latin typeface="Calibri"/>
                <a:cs typeface="Calibri"/>
              </a:rPr>
              <a:t>postponed: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945643"/>
            <a:ext cx="502348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deferred/postpone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status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bugs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postponed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400" dirty="0">
                <a:latin typeface="Calibri"/>
                <a:cs typeface="Calibri"/>
              </a:rPr>
              <a:t>to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future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release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constraints.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6746" y="535561"/>
            <a:ext cx="502348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deferred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was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fixed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initial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build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time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constraints.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6746" y="1409826"/>
            <a:ext cx="25438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see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below</a:t>
            </a:r>
            <a:r>
              <a:rPr sz="1400" b="1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image: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6746" y="1749729"/>
            <a:ext cx="5022850" cy="207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Bug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ID-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B001</a:t>
            </a:r>
            <a:r>
              <a:rPr sz="1400" b="1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found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at the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initial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build,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but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 will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be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fixed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same</a:t>
            </a:r>
            <a:r>
              <a:rPr sz="140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build,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postpone,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fixed</a:t>
            </a:r>
            <a:r>
              <a:rPr sz="1400" b="1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b="1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next 	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release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b="1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ID-</a:t>
            </a:r>
            <a:r>
              <a:rPr sz="1400" b="1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B0024,</a:t>
            </a:r>
            <a:r>
              <a:rPr sz="1400" b="1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B0025,</a:t>
            </a:r>
            <a:r>
              <a:rPr sz="1400" b="1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b="1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B0026</a:t>
            </a:r>
            <a:r>
              <a:rPr sz="1400" b="1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those</a:t>
            </a:r>
            <a:r>
              <a:rPr sz="14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bugs,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are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found</a:t>
            </a:r>
            <a:r>
              <a:rPr sz="1400" spc="3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3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last</a:t>
            </a:r>
            <a:r>
              <a:rPr sz="1400" spc="3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stage</a:t>
            </a:r>
            <a:r>
              <a:rPr sz="1400" spc="3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build,</a:t>
            </a:r>
            <a:r>
              <a:rPr sz="1400" spc="3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b="1" spc="3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they</a:t>
            </a:r>
            <a:r>
              <a:rPr sz="1400" b="1" spc="3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b="1" spc="3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b="1" spc="3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fixed 	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these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bugs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b="1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minor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bugs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736" y="2050134"/>
            <a:ext cx="3419475" cy="3457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0671" y="3685032"/>
            <a:ext cx="3203448" cy="21366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400" y="2158364"/>
            <a:ext cx="23850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RFE</a:t>
            </a:r>
            <a:r>
              <a:rPr sz="1400" b="1" spc="-5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(Request</a:t>
            </a:r>
            <a:r>
              <a:rPr sz="1400" b="1" spc="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4A"/>
                </a:solidFill>
                <a:latin typeface="Calibri"/>
                <a:cs typeface="Calibri"/>
              </a:rPr>
              <a:t>for</a:t>
            </a:r>
            <a:r>
              <a:rPr sz="1400" b="1" spc="-10" dirty="0">
                <a:solidFill>
                  <a:srgbClr val="600A4A"/>
                </a:solidFill>
                <a:latin typeface="Calibri"/>
                <a:cs typeface="Calibri"/>
              </a:rPr>
              <a:t> Enhancement):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400" y="2498902"/>
            <a:ext cx="502221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These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suggestions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given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towards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enhancement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form</a:t>
            </a:r>
            <a:r>
              <a:rPr sz="1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report.</a:t>
            </a:r>
            <a:r>
              <a:rPr sz="14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RFE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stands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Request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40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Enhancement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464" y="535561"/>
            <a:ext cx="5022850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can see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 the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below example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image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engineer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thinks</a:t>
            </a:r>
            <a:r>
              <a:rPr sz="14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look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feel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software</a:t>
            </a:r>
            <a:r>
              <a:rPr sz="14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are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good</a:t>
            </a:r>
            <a:r>
              <a:rPr sz="14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sz="14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engineer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testing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4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as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end-user,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he/she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change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Calibri"/>
                <a:cs typeface="Calibri"/>
              </a:rPr>
              <a:t>RFE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4" y="2050161"/>
            <a:ext cx="4737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customer says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Yes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,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should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Fix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4" y="2498217"/>
            <a:ext cx="43268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customer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says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no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,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sz="1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should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Close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463" y="816863"/>
            <a:ext cx="4901184" cy="9418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039" y="3865291"/>
            <a:ext cx="3881968" cy="21144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5392" y="3264408"/>
            <a:ext cx="4166615" cy="165811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531368"/>
            <a:ext cx="21316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Bug</a:t>
            </a:r>
            <a:r>
              <a:rPr sz="1400" b="1" spc="-3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Report</a:t>
            </a:r>
            <a:r>
              <a:rPr sz="1400" b="1" spc="-4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600A38"/>
                </a:solidFill>
                <a:latin typeface="Calibri"/>
                <a:cs typeface="Calibri"/>
              </a:rPr>
              <a:t>Template</a:t>
            </a:r>
            <a:r>
              <a:rPr sz="1400" b="1" spc="-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(excel):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464" y="628599"/>
            <a:ext cx="39344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Bug</a:t>
            </a:r>
            <a:r>
              <a:rPr sz="1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ID:</a:t>
            </a:r>
            <a:r>
              <a:rPr sz="1400" b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1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unique</a:t>
            </a:r>
            <a:r>
              <a:rPr sz="140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number</a:t>
            </a:r>
            <a:r>
              <a:rPr sz="14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given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Arial MT"/>
                <a:cs typeface="Arial MT"/>
              </a:rPr>
              <a:t>bug.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464" y="966720"/>
            <a:ext cx="5023485" cy="4846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8890" indent="-227329" algn="just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Test</a:t>
            </a:r>
            <a:r>
              <a:rPr sz="1400" b="1" spc="3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case</a:t>
            </a:r>
            <a:r>
              <a:rPr sz="1400" b="1" spc="3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name:</a:t>
            </a:r>
            <a:r>
              <a:rPr sz="1400" b="1" spc="3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When</a:t>
            </a:r>
            <a:r>
              <a:rPr sz="1400" spc="3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sz="1400" spc="3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find</a:t>
            </a:r>
            <a:r>
              <a:rPr sz="1400" spc="3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400" spc="3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bug,</a:t>
            </a:r>
            <a:r>
              <a:rPr sz="1400" spc="3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sz="1400" spc="3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send</a:t>
            </a:r>
            <a:r>
              <a:rPr sz="1400" spc="3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400" spc="3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bug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report,</a:t>
            </a:r>
            <a:r>
              <a:rPr sz="1400" spc="2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not</a:t>
            </a:r>
            <a:r>
              <a:rPr sz="1400" spc="2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2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test</a:t>
            </a:r>
            <a:r>
              <a:rPr sz="1400" spc="22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case</a:t>
            </a:r>
            <a:r>
              <a:rPr sz="1400" spc="2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400" spc="2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2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concerned</a:t>
            </a:r>
            <a:r>
              <a:rPr sz="1400" spc="2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developer.</a:t>
            </a:r>
            <a:r>
              <a:rPr sz="1400" spc="2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1400" spc="2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is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used</a:t>
            </a:r>
            <a:r>
              <a:rPr sz="14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as</a:t>
            </a:r>
            <a:r>
              <a:rPr sz="1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reference</a:t>
            </a:r>
            <a:r>
              <a:rPr sz="140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14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test</a:t>
            </a:r>
            <a:r>
              <a:rPr sz="1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engineer.</a:t>
            </a:r>
            <a:endParaRPr sz="1400">
              <a:latin typeface="Arial MT"/>
              <a:cs typeface="Arial MT"/>
            </a:endParaRPr>
          </a:p>
          <a:p>
            <a:pPr marL="240029" marR="5080" indent="-227329" algn="just">
              <a:lnSpc>
                <a:spcPct val="14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Severity:</a:t>
            </a:r>
            <a:r>
              <a:rPr sz="1400" b="1" spc="11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sz="1400" spc="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impact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1400" spc="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bug</a:t>
            </a:r>
            <a:r>
              <a:rPr sz="1400" spc="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on</a:t>
            </a:r>
            <a:r>
              <a:rPr sz="1400" spc="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application.</a:t>
            </a:r>
            <a:r>
              <a:rPr sz="1400" spc="1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1400" spc="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can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be</a:t>
            </a:r>
            <a:r>
              <a:rPr sz="1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1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blocker,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critical,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major,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minor.</a:t>
            </a:r>
            <a:endParaRPr sz="1400">
              <a:latin typeface="Arial MT"/>
              <a:cs typeface="Arial MT"/>
            </a:endParaRPr>
          </a:p>
          <a:p>
            <a:pPr marL="240029" marR="5080" indent="-227329" algn="just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Priority:</a:t>
            </a:r>
            <a:r>
              <a:rPr sz="1400" b="1" spc="2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sz="1400" spc="2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this,</a:t>
            </a:r>
            <a:r>
              <a:rPr sz="1400" spc="2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sz="1400" spc="2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have</a:t>
            </a:r>
            <a:r>
              <a:rPr sz="1400" spc="25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400" spc="2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decide</a:t>
            </a:r>
            <a:r>
              <a:rPr sz="1400" spc="25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which</a:t>
            </a:r>
            <a:r>
              <a:rPr sz="1400" spc="2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bug</a:t>
            </a:r>
            <a:r>
              <a:rPr sz="1400" spc="2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has</a:t>
            </a:r>
            <a:r>
              <a:rPr sz="1400" spc="2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1400" spc="25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be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fixed</a:t>
            </a:r>
            <a:r>
              <a:rPr sz="1400" spc="20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first.</a:t>
            </a:r>
            <a:r>
              <a:rPr sz="1400" spc="22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1400" spc="2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could</a:t>
            </a:r>
            <a:r>
              <a:rPr sz="1400" spc="22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be</a:t>
            </a:r>
            <a:r>
              <a:rPr sz="1400" spc="2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P1/P2/P3/P4,</a:t>
            </a:r>
            <a:r>
              <a:rPr sz="1400" spc="2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urgent,</a:t>
            </a:r>
            <a:r>
              <a:rPr sz="1400" spc="2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high,</a:t>
            </a:r>
            <a:r>
              <a:rPr sz="1400" spc="2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 MT"/>
                <a:cs typeface="Arial MT"/>
              </a:rPr>
              <a:t>medium,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4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Arial MT"/>
                <a:cs typeface="Arial MT"/>
              </a:rPr>
              <a:t>low.</a:t>
            </a:r>
            <a:endParaRPr sz="1400">
              <a:latin typeface="Arial MT"/>
              <a:cs typeface="Arial MT"/>
            </a:endParaRPr>
          </a:p>
          <a:p>
            <a:pPr marL="240029" marR="5080" indent="-227329" algn="just">
              <a:lnSpc>
                <a:spcPct val="1401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Status:</a:t>
            </a:r>
            <a:r>
              <a:rPr sz="1400" b="1" spc="4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4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different</a:t>
            </a:r>
            <a:r>
              <a:rPr sz="1400" spc="4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status</a:t>
            </a:r>
            <a:r>
              <a:rPr sz="1400" spc="4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1400" spc="4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1400" spc="4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bug</a:t>
            </a:r>
            <a:r>
              <a:rPr sz="1400" spc="4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which</a:t>
            </a:r>
            <a:r>
              <a:rPr sz="1400" spc="4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could</a:t>
            </a:r>
            <a:r>
              <a:rPr sz="1400" spc="4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be 	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assigned,</a:t>
            </a:r>
            <a:r>
              <a:rPr sz="1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invalid,</a:t>
            </a:r>
            <a:r>
              <a:rPr sz="1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duplicate,</a:t>
            </a:r>
            <a:r>
              <a:rPr sz="1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deferred,</a:t>
            </a:r>
            <a:r>
              <a:rPr sz="1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400" spc="-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so</a:t>
            </a:r>
            <a:r>
              <a:rPr sz="14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Arial MT"/>
                <a:cs typeface="Arial MT"/>
              </a:rPr>
              <a:t>on.</a:t>
            </a:r>
            <a:endParaRPr sz="1400">
              <a:latin typeface="Arial MT"/>
              <a:cs typeface="Arial MT"/>
            </a:endParaRPr>
          </a:p>
          <a:p>
            <a:pPr marL="240029" marR="5080" indent="-227329" algn="just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Reporter:</a:t>
            </a:r>
            <a:r>
              <a:rPr sz="1400" b="1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this,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mention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name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person</a:t>
            </a:r>
            <a:r>
              <a:rPr sz="140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who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found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 bug.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could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 the test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engineer,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sometime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may 	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developer,</a:t>
            </a:r>
            <a:r>
              <a:rPr sz="1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business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analyst,</a:t>
            </a:r>
            <a:r>
              <a:rPr sz="1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customer,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etc.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Date:</a:t>
            </a:r>
            <a:r>
              <a:rPr sz="1400" b="1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provides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date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found.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287" y="1078210"/>
            <a:ext cx="3486150" cy="42371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12" y="455726"/>
            <a:ext cx="50234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Release/Build</a:t>
            </a:r>
            <a:r>
              <a:rPr sz="1400" b="1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Version:</a:t>
            </a:r>
            <a:r>
              <a:rPr sz="1400" b="1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provides</a:t>
            </a:r>
            <a:r>
              <a:rPr sz="14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release</a:t>
            </a:r>
            <a:r>
              <a:rPr sz="14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number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which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occurs,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build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version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application.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912" y="1221156"/>
            <a:ext cx="50241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Platform: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Mention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platform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details,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exactly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find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912" y="1989996"/>
            <a:ext cx="5023485" cy="143383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solidFill>
                  <a:srgbClr val="333333"/>
                </a:solidFill>
                <a:latin typeface="Calibri"/>
                <a:cs typeface="Calibri"/>
              </a:rPr>
              <a:t>Description:</a:t>
            </a:r>
            <a:r>
              <a:rPr sz="1400" b="1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this,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explain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 navigation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steps,</a:t>
            </a:r>
            <a:r>
              <a:rPr sz="14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expected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actual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results of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particular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  <a:p>
            <a:pPr marL="241300" marR="10160" indent="-229235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solidFill>
                  <a:srgbClr val="333333"/>
                </a:solidFill>
                <a:latin typeface="Calibri"/>
                <a:cs typeface="Calibri"/>
              </a:rPr>
              <a:t>Attachments:</a:t>
            </a:r>
            <a:r>
              <a:rPr sz="1400" b="1" spc="4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Attach</a:t>
            </a:r>
            <a:r>
              <a:rPr sz="1400" spc="4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5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screenshots</a:t>
            </a:r>
            <a:r>
              <a:rPr sz="1400" spc="4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45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48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bug,</a:t>
            </a:r>
            <a:r>
              <a:rPr sz="1400" spc="4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400" spc="4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we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captured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helps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developers</a:t>
            </a:r>
            <a:r>
              <a:rPr sz="1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see</a:t>
            </a:r>
            <a:r>
              <a:rPr sz="140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bug.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5460" y="549351"/>
            <a:ext cx="280035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The</a:t>
            </a:r>
            <a:r>
              <a:rPr sz="1400" b="1" spc="-4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Drawback</a:t>
            </a:r>
            <a:r>
              <a:rPr sz="1400" b="1" spc="-2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of</a:t>
            </a:r>
            <a:r>
              <a:rPr sz="1400" b="1" spc="-4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a</a:t>
            </a:r>
            <a:r>
              <a:rPr sz="1400" b="1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manual</a:t>
            </a:r>
            <a:r>
              <a:rPr sz="1400" b="1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00A38"/>
                </a:solidFill>
                <a:latin typeface="Calibri"/>
                <a:cs typeface="Calibri"/>
              </a:rPr>
              <a:t>bug</a:t>
            </a:r>
            <a:r>
              <a:rPr sz="1400" b="1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00A38"/>
                </a:solidFill>
                <a:latin typeface="Calibri"/>
                <a:cs typeface="Calibri"/>
              </a:rPr>
              <a:t>report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5460" y="961389"/>
            <a:ext cx="5146040" cy="4458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4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disadvantages</a:t>
            </a:r>
            <a:r>
              <a:rPr sz="1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manual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bug</a:t>
            </a:r>
            <a:r>
              <a:rPr sz="14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report: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Time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consuming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50100"/>
              </a:lnSpc>
              <a:spcBef>
                <a:spcPts val="1005"/>
              </a:spcBef>
            </a:pPr>
            <a:r>
              <a:rPr sz="1400" dirty="0">
                <a:latin typeface="Calibri"/>
                <a:cs typeface="Calibri"/>
              </a:rPr>
              <a:t>While</a:t>
            </a:r>
            <a:r>
              <a:rPr sz="1400" spc="2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searching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every</a:t>
            </a:r>
            <a:r>
              <a:rPr sz="1400" spc="25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25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2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report,</a:t>
            </a:r>
            <a:r>
              <a:rPr sz="1400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25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2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2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taken process.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spc="-10" dirty="0">
                <a:latin typeface="Calibri"/>
                <a:cs typeface="Calibri"/>
              </a:rPr>
              <a:t>Possibility</a:t>
            </a:r>
            <a:r>
              <a:rPr sz="1400" b="1" spc="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human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error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50100"/>
              </a:lnSpc>
              <a:spcBef>
                <a:spcPts val="101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 repeated,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wrong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mentioned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report,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miss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something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No</a:t>
            </a:r>
            <a:r>
              <a:rPr sz="1400" b="1" spc="-10" dirty="0">
                <a:latin typeface="Calibri"/>
                <a:cs typeface="Calibri"/>
              </a:rPr>
              <a:t> security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Anyone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change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delete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spc="-20" dirty="0">
                <a:latin typeface="Calibri"/>
                <a:cs typeface="Calibri"/>
              </a:rPr>
              <a:t>Tedious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process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400" b="1" dirty="0">
                <a:latin typeface="Calibri"/>
                <a:cs typeface="Calibri"/>
              </a:rPr>
              <a:t>No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centralized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repository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2059" y="2985973"/>
            <a:ext cx="10915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i="1" spc="-25" dirty="0">
                <a:latin typeface="Calibri"/>
                <a:cs typeface="Calibri"/>
              </a:rPr>
              <a:t>END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7515</Words>
  <Application>Microsoft Office PowerPoint</Application>
  <PresentationFormat>Widescreen</PresentationFormat>
  <Paragraphs>691</Paragraphs>
  <Slides>43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Aptos</vt:lpstr>
      <vt:lpstr>Arial</vt:lpstr>
      <vt:lpstr>Arial MT</vt:lpstr>
      <vt:lpstr>Calibri</vt:lpstr>
      <vt:lpstr>Impact</vt:lpstr>
      <vt:lpstr>Segoe UI</vt:lpstr>
      <vt:lpstr>Times New Roman</vt:lpstr>
      <vt:lpstr>Wingdings</vt:lpstr>
      <vt:lpstr>Office Theme</vt:lpstr>
      <vt:lpstr>UNIT-2 Test Case Design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State Transition Testing:</vt:lpstr>
      <vt:lpstr>PowerPoint Presentation</vt:lpstr>
      <vt:lpstr>Use Case Testing: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case review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shreelakshmi</cp:lastModifiedBy>
  <cp:revision>1</cp:revision>
  <dcterms:created xsi:type="dcterms:W3CDTF">2026-02-02T03:17:00Z</dcterms:created>
  <dcterms:modified xsi:type="dcterms:W3CDTF">2026-02-02T03:56:35Z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2026-02-02T00:00:00Z</vt:filetime>
  </property>
  <property fmtid="{D5CDD505-2E9C-101B-9397-08002B2CF9AE}" pid="5" name="Producer">
    <vt:lpwstr>www.ilovepdf.com</vt:lpwstr>
  </property>
</Properties>
</file>